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28"/>
  </p:notesMasterIdLst>
  <p:sldIdLst>
    <p:sldId id="256" r:id="rId2"/>
    <p:sldId id="282" r:id="rId3"/>
    <p:sldId id="283" r:id="rId4"/>
    <p:sldId id="284" r:id="rId5"/>
    <p:sldId id="269" r:id="rId6"/>
    <p:sldId id="285" r:id="rId7"/>
    <p:sldId id="276" r:id="rId8"/>
    <p:sldId id="277" r:id="rId9"/>
    <p:sldId id="278" r:id="rId10"/>
    <p:sldId id="286" r:id="rId11"/>
    <p:sldId id="287" r:id="rId12"/>
    <p:sldId id="288" r:id="rId13"/>
    <p:sldId id="264" r:id="rId14"/>
    <p:sldId id="289" r:id="rId15"/>
    <p:sldId id="291" r:id="rId16"/>
    <p:sldId id="290" r:id="rId17"/>
    <p:sldId id="260" r:id="rId18"/>
    <p:sldId id="261" r:id="rId19"/>
    <p:sldId id="271" r:id="rId20"/>
    <p:sldId id="272" r:id="rId21"/>
    <p:sldId id="292" r:id="rId22"/>
    <p:sldId id="279" r:id="rId23"/>
    <p:sldId id="293" r:id="rId24"/>
    <p:sldId id="280" r:id="rId25"/>
    <p:sldId id="281" r:id="rId26"/>
    <p:sldId id="294"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Stile chiaro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117" name="Google Shape;11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86" name="Google Shape;8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94" name="Google Shape;9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 name="Google Shape;15;p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it"/>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tocco@studenti.unipi.it"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mailto:g.tumminello@studenti.unipi.it" TargetMode="External"/><Relationship Id="rId4" Type="http://schemas.openxmlformats.org/officeDocument/2006/relationships/hyperlink" Target="mailto:c.botticelli1@studenti.unipi.it"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0" y="0"/>
            <a:ext cx="8520600" cy="1374300"/>
          </a:xfrm>
          <a:prstGeom prst="rect">
            <a:avLst/>
          </a:prstGeom>
          <a:noFill/>
          <a:ln>
            <a:noFill/>
          </a:ln>
        </p:spPr>
        <p:txBody>
          <a:bodyPr spcFirstLastPara="1" wrap="square" lIns="91425" tIns="91425" rIns="91425" bIns="91425" anchor="t" anchorCtr="0">
            <a:noAutofit/>
          </a:bodyPr>
          <a:lstStyle/>
          <a:p>
            <a:pPr lvl="0">
              <a:buSzPct val="111111"/>
            </a:pPr>
            <a:r>
              <a:rPr lang="en-US" sz="3600" b="1" dirty="0"/>
              <a:t>ANN implementation &amp; Cascade Correlation analysis</a:t>
            </a:r>
            <a:endParaRPr sz="3600" b="1" dirty="0">
              <a:latin typeface="+mj-lt"/>
            </a:endParaRPr>
          </a:p>
        </p:txBody>
      </p:sp>
      <p:sp>
        <p:nvSpPr>
          <p:cNvPr id="55" name="Google Shape;55;p13"/>
          <p:cNvSpPr txBox="1">
            <a:spLocks noGrp="1"/>
          </p:cNvSpPr>
          <p:nvPr>
            <p:ph type="subTitle" idx="1"/>
          </p:nvPr>
        </p:nvSpPr>
        <p:spPr>
          <a:xfrm>
            <a:off x="363900" y="2340900"/>
            <a:ext cx="8416200" cy="1477500"/>
          </a:xfrm>
          <a:prstGeom prst="rect">
            <a:avLst/>
          </a:prstGeom>
          <a:noFill/>
          <a:ln>
            <a:noFill/>
          </a:ln>
        </p:spPr>
        <p:txBody>
          <a:bodyPr spcFirstLastPara="1" wrap="square" lIns="91425" tIns="91425" rIns="91425" bIns="91425" anchor="t" anchorCtr="0">
            <a:noAutofit/>
          </a:bodyPr>
          <a:lstStyle/>
          <a:p>
            <a:pPr marL="0" marR="0" lvl="0" indent="0" algn="ctr" rtl="0">
              <a:lnSpc>
                <a:spcPct val="80000"/>
              </a:lnSpc>
              <a:spcBef>
                <a:spcPts val="0"/>
              </a:spcBef>
              <a:spcAft>
                <a:spcPts val="0"/>
              </a:spcAft>
              <a:buSzPts val="440"/>
              <a:buNone/>
            </a:pPr>
            <a:r>
              <a:rPr lang="it" sz="2000" dirty="0">
                <a:solidFill>
                  <a:schemeClr val="dk1"/>
                </a:solidFill>
                <a:latin typeface="+mj-lt"/>
              </a:rPr>
              <a:t>Alessia Stocco, Cosimo Botticelli, Giulia Tumminello</a:t>
            </a:r>
          </a:p>
          <a:p>
            <a:pPr marL="0" marR="0" lvl="0" indent="0" algn="ctr" rtl="0">
              <a:lnSpc>
                <a:spcPct val="80000"/>
              </a:lnSpc>
              <a:spcBef>
                <a:spcPts val="0"/>
              </a:spcBef>
              <a:spcAft>
                <a:spcPts val="0"/>
              </a:spcAft>
              <a:buSzPts val="440"/>
              <a:buNone/>
            </a:pPr>
            <a:endParaRPr sz="2000" dirty="0">
              <a:solidFill>
                <a:schemeClr val="dk1"/>
              </a:solidFill>
              <a:latin typeface="+mj-lt"/>
            </a:endParaRPr>
          </a:p>
          <a:p>
            <a:pPr marL="0" marR="0" lvl="0" indent="0" algn="ctr" rtl="0">
              <a:lnSpc>
                <a:spcPct val="80000"/>
              </a:lnSpc>
              <a:spcBef>
                <a:spcPts val="0"/>
              </a:spcBef>
              <a:spcAft>
                <a:spcPts val="0"/>
              </a:spcAft>
              <a:buSzPts val="440"/>
              <a:buNone/>
            </a:pPr>
            <a:r>
              <a:rPr lang="it" sz="2000" i="1" dirty="0">
                <a:solidFill>
                  <a:schemeClr val="dk1"/>
                </a:solidFill>
                <a:latin typeface="+mj-lt"/>
              </a:rPr>
              <a:t>PlusUltra</a:t>
            </a:r>
          </a:p>
          <a:p>
            <a:pPr marL="0" marR="0" lvl="0" indent="0" algn="ctr" rtl="0">
              <a:lnSpc>
                <a:spcPct val="80000"/>
              </a:lnSpc>
              <a:spcBef>
                <a:spcPts val="0"/>
              </a:spcBef>
              <a:spcAft>
                <a:spcPts val="0"/>
              </a:spcAft>
              <a:buSzPts val="440"/>
              <a:buNone/>
            </a:pPr>
            <a:br>
              <a:rPr lang="it" sz="2000" dirty="0">
                <a:solidFill>
                  <a:schemeClr val="dk1"/>
                </a:solidFill>
                <a:latin typeface="+mj-lt"/>
              </a:rPr>
            </a:br>
            <a:r>
              <a:rPr lang="it" sz="2000" dirty="0">
                <a:solidFill>
                  <a:schemeClr val="dk1"/>
                </a:solidFill>
                <a:latin typeface="+mj-lt"/>
              </a:rPr>
              <a:t> Digital Humanities, Artificial Intelligence, Physics of Complex Systems</a:t>
            </a:r>
            <a:endParaRPr sz="2000" dirty="0">
              <a:solidFill>
                <a:schemeClr val="dk1"/>
              </a:solidFill>
              <a:highlight>
                <a:srgbClr val="FFFF00"/>
              </a:highlight>
              <a:latin typeface="+mj-lt"/>
            </a:endParaRPr>
          </a:p>
          <a:p>
            <a:pPr marL="0" marR="0" lvl="0" indent="0" algn="ctr" rtl="0">
              <a:lnSpc>
                <a:spcPct val="80000"/>
              </a:lnSpc>
              <a:spcBef>
                <a:spcPts val="0"/>
              </a:spcBef>
              <a:spcAft>
                <a:spcPts val="0"/>
              </a:spcAft>
              <a:buSzPts val="440"/>
              <a:buNone/>
            </a:pPr>
            <a:r>
              <a:rPr lang="it-IT" sz="1933" dirty="0">
                <a:solidFill>
                  <a:schemeClr val="dk1"/>
                </a:solidFill>
                <a:latin typeface="+mj-lt"/>
                <a:ea typeface="Times New Roman"/>
                <a:hlinkClick r:id="rId3"/>
              </a:rPr>
              <a:t>a.stocco@studenti.unipi.it</a:t>
            </a:r>
            <a:r>
              <a:rPr lang="it-IT" sz="1933" dirty="0">
                <a:solidFill>
                  <a:schemeClr val="dk1"/>
                </a:solidFill>
                <a:latin typeface="+mj-lt"/>
                <a:ea typeface="Times New Roman"/>
              </a:rPr>
              <a:t>, </a:t>
            </a:r>
            <a:r>
              <a:rPr lang="it-IT" sz="1933" dirty="0">
                <a:solidFill>
                  <a:schemeClr val="dk1"/>
                </a:solidFill>
                <a:latin typeface="+mj-lt"/>
                <a:ea typeface="Times New Roman"/>
                <a:hlinkClick r:id="rId4"/>
              </a:rPr>
              <a:t>c.botticelli1@studenti.unipi.it</a:t>
            </a:r>
            <a:r>
              <a:rPr lang="it-IT" sz="1933" dirty="0">
                <a:solidFill>
                  <a:schemeClr val="dk1"/>
                </a:solidFill>
                <a:latin typeface="+mj-lt"/>
                <a:ea typeface="Times New Roman"/>
              </a:rPr>
              <a:t>, </a:t>
            </a:r>
            <a:r>
              <a:rPr lang="it-IT" sz="1933" dirty="0">
                <a:solidFill>
                  <a:schemeClr val="dk1"/>
                </a:solidFill>
                <a:latin typeface="+mj-lt"/>
                <a:ea typeface="Times New Roman"/>
                <a:hlinkClick r:id="rId5"/>
              </a:rPr>
              <a:t>g.tumminello@studenti.unipi.it</a:t>
            </a:r>
            <a:r>
              <a:rPr lang="it-IT" sz="1933" dirty="0">
                <a:solidFill>
                  <a:schemeClr val="dk1"/>
                </a:solidFill>
                <a:latin typeface="+mj-lt"/>
                <a:ea typeface="Times New Roman"/>
              </a:rPr>
              <a:t> </a:t>
            </a:r>
          </a:p>
          <a:p>
            <a:pPr marL="0" marR="0" lvl="0" indent="0" algn="ctr" rtl="0">
              <a:lnSpc>
                <a:spcPct val="80000"/>
              </a:lnSpc>
              <a:spcBef>
                <a:spcPts val="0"/>
              </a:spcBef>
              <a:spcAft>
                <a:spcPts val="0"/>
              </a:spcAft>
              <a:buSzPts val="440"/>
              <a:buNone/>
            </a:pPr>
            <a:endParaRPr lang="it-IT" sz="1933" dirty="0">
              <a:solidFill>
                <a:schemeClr val="dk1"/>
              </a:solidFill>
              <a:highlight>
                <a:srgbClr val="FFFF00"/>
              </a:highlight>
              <a:latin typeface="+mj-lt"/>
              <a:ea typeface="Times New Roman"/>
            </a:endParaRPr>
          </a:p>
          <a:p>
            <a:pPr marL="0" marR="0" lvl="0" indent="0" algn="ctr" rtl="0">
              <a:lnSpc>
                <a:spcPct val="80000"/>
              </a:lnSpc>
              <a:spcBef>
                <a:spcPts val="0"/>
              </a:spcBef>
              <a:spcAft>
                <a:spcPts val="0"/>
              </a:spcAft>
              <a:buSzPts val="440"/>
              <a:buNone/>
            </a:pPr>
            <a:r>
              <a:rPr lang="it-IT" sz="2000" dirty="0">
                <a:solidFill>
                  <a:schemeClr val="dk1"/>
                </a:solidFill>
                <a:latin typeface="+mj-lt"/>
                <a:ea typeface="Times New Roman"/>
                <a:cs typeface="Times New Roman"/>
                <a:sym typeface="Times New Roman"/>
              </a:rPr>
              <a:t>19/01/2026</a:t>
            </a:r>
            <a:endParaRPr sz="2000" dirty="0">
              <a:solidFill>
                <a:schemeClr val="dk1"/>
              </a:solidFill>
              <a:latin typeface="+mj-lt"/>
              <a:ea typeface="Times New Roman"/>
              <a:cs typeface="Times New Roman"/>
              <a:sym typeface="Times New Roman"/>
            </a:endParaRPr>
          </a:p>
          <a:p>
            <a:pPr marL="0" lvl="0" indent="0" algn="ctr" rtl="0">
              <a:lnSpc>
                <a:spcPct val="115000"/>
              </a:lnSpc>
              <a:spcBef>
                <a:spcPts val="1200"/>
              </a:spcBef>
              <a:spcAft>
                <a:spcPts val="0"/>
              </a:spcAft>
              <a:buClr>
                <a:schemeClr val="dk1"/>
              </a:buClr>
              <a:buSzPts val="1100"/>
              <a:buFont typeface="Arial"/>
              <a:buNone/>
            </a:pPr>
            <a:r>
              <a:rPr lang="it" sz="2000" dirty="0">
                <a:solidFill>
                  <a:schemeClr val="dk1"/>
                </a:solidFill>
                <a:latin typeface="+mj-lt"/>
              </a:rPr>
              <a:t>Type of project: </a:t>
            </a:r>
            <a:r>
              <a:rPr lang="it" sz="2000" b="1" dirty="0">
                <a:solidFill>
                  <a:schemeClr val="dk1"/>
                </a:solidFill>
                <a:latin typeface="+mj-lt"/>
              </a:rPr>
              <a:t>A </a:t>
            </a:r>
            <a:endParaRPr sz="2000" b="1" dirty="0">
              <a:solidFill>
                <a:schemeClr val="dk1"/>
              </a:solidFill>
              <a:latin typeface="+mj-lt"/>
            </a:endParaRPr>
          </a:p>
          <a:p>
            <a:pPr marL="0" marR="0" lvl="0" indent="0" algn="ctr" rtl="0">
              <a:lnSpc>
                <a:spcPct val="80000"/>
              </a:lnSpc>
              <a:spcBef>
                <a:spcPts val="0"/>
              </a:spcBef>
              <a:spcAft>
                <a:spcPts val="0"/>
              </a:spcAft>
              <a:buSzPts val="440"/>
              <a:buNone/>
            </a:pPr>
            <a:endParaRPr sz="1200" b="1" i="1" dirty="0">
              <a:solidFill>
                <a:schemeClr val="dk1"/>
              </a:solidFill>
              <a:latin typeface="+mj-lt"/>
              <a:ea typeface="Times New Roman"/>
              <a:cs typeface="Times New Roman"/>
              <a:sym typeface="Times New Roman"/>
            </a:endParaRPr>
          </a:p>
        </p:txBody>
      </p:sp>
      <p:pic>
        <p:nvPicPr>
          <p:cNvPr id="56" name="Google Shape;56;p13"/>
          <p:cNvPicPr preferRelativeResize="0"/>
          <p:nvPr/>
        </p:nvPicPr>
        <p:blipFill rotWithShape="1">
          <a:blip r:embed="rId6">
            <a:alphaModFix/>
          </a:blip>
          <a:srcRect/>
          <a:stretch/>
        </p:blipFill>
        <p:spPr>
          <a:xfrm>
            <a:off x="8157525" y="51773"/>
            <a:ext cx="889425" cy="912225"/>
          </a:xfrm>
          <a:prstGeom prst="rect">
            <a:avLst/>
          </a:prstGeom>
          <a:noFill/>
          <a:ln>
            <a:noFill/>
          </a:ln>
        </p:spPr>
      </p:pic>
      <p:sp>
        <p:nvSpPr>
          <p:cNvPr id="57" name="Google Shape;57;p13"/>
          <p:cNvSpPr txBox="1"/>
          <p:nvPr/>
        </p:nvSpPr>
        <p:spPr>
          <a:xfrm>
            <a:off x="7253725" y="2340900"/>
            <a:ext cx="727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latin typeface="+mj-lt"/>
            </a:endParaRPr>
          </a:p>
        </p:txBody>
      </p:sp>
      <p:sp>
        <p:nvSpPr>
          <p:cNvPr id="2" name="Google Shape;54;p13">
            <a:extLst>
              <a:ext uri="{FF2B5EF4-FFF2-40B4-BE49-F238E27FC236}">
                <a16:creationId xmlns:a16="http://schemas.microsoft.com/office/drawing/2014/main" id="{0D46B996-CD13-6B73-1D08-1B7399E86086}"/>
              </a:ext>
            </a:extLst>
          </p:cNvPr>
          <p:cNvSpPr txBox="1">
            <a:spLocks/>
          </p:cNvSpPr>
          <p:nvPr/>
        </p:nvSpPr>
        <p:spPr>
          <a:xfrm>
            <a:off x="311700" y="1072921"/>
            <a:ext cx="8520600" cy="1374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pPr>
              <a:buSzPct val="111111"/>
            </a:pPr>
            <a:r>
              <a:rPr lang="en-US" sz="2400" i="1" dirty="0"/>
              <a:t>MONK's Problems &amp; ML-CUP25 Classification and Regression Tasks</a:t>
            </a:r>
            <a:endParaRPr lang="fr-FR" sz="2400" i="1"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26CF9B5-C2E6-6D53-0019-5C12D4E987FF}"/>
              </a:ext>
            </a:extLst>
          </p:cNvPr>
          <p:cNvSpPr>
            <a:spLocks noGrp="1"/>
          </p:cNvSpPr>
          <p:nvPr>
            <p:ph type="title"/>
          </p:nvPr>
        </p:nvSpPr>
        <p:spPr/>
        <p:txBody>
          <a:bodyPr>
            <a:noAutofit/>
          </a:bodyPr>
          <a:lstStyle/>
          <a:p>
            <a:r>
              <a:rPr lang="en-US" sz="3000" b="1" dirty="0"/>
              <a:t>Introduction and objectives </a:t>
            </a:r>
          </a:p>
        </p:txBody>
      </p:sp>
      <p:sp>
        <p:nvSpPr>
          <p:cNvPr id="3" name="Segnaposto testo 2">
            <a:extLst>
              <a:ext uri="{FF2B5EF4-FFF2-40B4-BE49-F238E27FC236}">
                <a16:creationId xmlns:a16="http://schemas.microsoft.com/office/drawing/2014/main" id="{AD01B692-082D-C6EE-FBEA-B9F308437AD6}"/>
              </a:ext>
            </a:extLst>
          </p:cNvPr>
          <p:cNvSpPr>
            <a:spLocks noGrp="1"/>
          </p:cNvSpPr>
          <p:nvPr>
            <p:ph type="body" idx="1"/>
          </p:nvPr>
        </p:nvSpPr>
        <p:spPr>
          <a:xfrm>
            <a:off x="311700" y="1065792"/>
            <a:ext cx="4260300" cy="3991025"/>
          </a:xfrm>
        </p:spPr>
        <p:txBody>
          <a:bodyPr anchor="ctr">
            <a:noAutofit/>
          </a:bodyPr>
          <a:lstStyle/>
          <a:p>
            <a:pPr marL="114300" indent="0" algn="just">
              <a:buNone/>
            </a:pPr>
            <a:r>
              <a:rPr lang="en-US" sz="1500" dirty="0">
                <a:solidFill>
                  <a:schemeClr val="tx1"/>
                </a:solidFill>
              </a:rPr>
              <a:t>This project presents the design and implementation of a neural network framework developed from scratch in Python which supports multiple training algorithms, regularization strategies, and validation schemes.</a:t>
            </a:r>
          </a:p>
          <a:p>
            <a:pPr marL="114300" indent="0" algn="just">
              <a:buNone/>
            </a:pPr>
            <a:r>
              <a:rPr lang="en-US" sz="1500" dirty="0">
                <a:solidFill>
                  <a:schemeClr val="tx1"/>
                </a:solidFill>
              </a:rPr>
              <a:t>For both classification and regression problems different training approaches (standard backpropagation and a cascade-correlation–inspired method) were compared.</a:t>
            </a:r>
          </a:p>
          <a:p>
            <a:pPr marL="114300" indent="0" algn="just">
              <a:buNone/>
            </a:pPr>
            <a:r>
              <a:rPr lang="en-US" sz="1500" dirty="0">
                <a:solidFill>
                  <a:schemeClr val="tx1"/>
                </a:solidFill>
              </a:rPr>
              <a:t>Results highlight the impact of architecture, regularization, and model selection strategies on generalization performance.</a:t>
            </a:r>
          </a:p>
        </p:txBody>
      </p:sp>
      <p:sp>
        <p:nvSpPr>
          <p:cNvPr id="4" name="Segnaposto numero diapositiva 3">
            <a:extLst>
              <a:ext uri="{FF2B5EF4-FFF2-40B4-BE49-F238E27FC236}">
                <a16:creationId xmlns:a16="http://schemas.microsoft.com/office/drawing/2014/main" id="{37743CB1-F878-73F6-5A6F-239450FBBB4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a:t>
            </a:fld>
            <a:endParaRPr lang="it-IT"/>
          </a:p>
        </p:txBody>
      </p:sp>
      <p:sp>
        <p:nvSpPr>
          <p:cNvPr id="5" name="Segnaposto testo 2">
            <a:extLst>
              <a:ext uri="{FF2B5EF4-FFF2-40B4-BE49-F238E27FC236}">
                <a16:creationId xmlns:a16="http://schemas.microsoft.com/office/drawing/2014/main" id="{BE76F0D3-BCC3-5797-FD96-31DD5DAA8058}"/>
              </a:ext>
            </a:extLst>
          </p:cNvPr>
          <p:cNvSpPr txBox="1">
            <a:spLocks/>
          </p:cNvSpPr>
          <p:nvPr/>
        </p:nvSpPr>
        <p:spPr>
          <a:xfrm>
            <a:off x="4572000" y="1065792"/>
            <a:ext cx="4260300" cy="39910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500" b="1" dirty="0">
                <a:solidFill>
                  <a:schemeClr val="tx1"/>
                </a:solidFill>
              </a:rPr>
              <a:t>MAIN GOALS:</a:t>
            </a:r>
          </a:p>
          <a:p>
            <a:pPr marL="114300" indent="0">
              <a:buNone/>
            </a:pPr>
            <a:endParaRPr lang="en-US" sz="1500" b="1" dirty="0">
              <a:solidFill>
                <a:schemeClr val="tx1"/>
              </a:solidFill>
            </a:endParaRPr>
          </a:p>
          <a:p>
            <a:pPr>
              <a:buClr>
                <a:schemeClr val="tx1"/>
              </a:buClr>
              <a:buFont typeface="Arial" panose="020B0604020202020204" pitchFamily="34" charset="0"/>
              <a:buChar char="•"/>
            </a:pPr>
            <a:r>
              <a:rPr lang="en-US" sz="1500" dirty="0">
                <a:solidFill>
                  <a:schemeClr val="tx1"/>
                </a:solidFill>
              </a:rPr>
              <a:t>To study the behavior and performance of feed-forward neural networks trained with different learning strategies.</a:t>
            </a:r>
          </a:p>
          <a:p>
            <a:pPr marL="114300" indent="0">
              <a:buNone/>
            </a:pPr>
            <a:endParaRPr lang="en-US" sz="1500" dirty="0">
              <a:solidFill>
                <a:schemeClr val="tx1"/>
              </a:solidFill>
            </a:endParaRPr>
          </a:p>
          <a:p>
            <a:pPr>
              <a:buClr>
                <a:schemeClr val="tx1"/>
              </a:buClr>
              <a:buFont typeface="Arial" panose="020B0604020202020204" pitchFamily="34" charset="0"/>
              <a:buChar char="•"/>
            </a:pPr>
            <a:r>
              <a:rPr lang="en-US" sz="1500" dirty="0">
                <a:solidFill>
                  <a:schemeClr val="tx1"/>
                </a:solidFill>
              </a:rPr>
              <a:t>To analyze generalization behavior.</a:t>
            </a:r>
          </a:p>
          <a:p>
            <a:pPr marL="114300" indent="0">
              <a:buNone/>
            </a:pPr>
            <a:endParaRPr lang="en-US" sz="1500" dirty="0">
              <a:solidFill>
                <a:schemeClr val="tx1"/>
              </a:solidFill>
            </a:endParaRPr>
          </a:p>
          <a:p>
            <a:pPr>
              <a:buClr>
                <a:schemeClr val="tx1"/>
              </a:buClr>
              <a:buFont typeface="Arial" panose="020B0604020202020204" pitchFamily="34" charset="0"/>
              <a:buChar char="•"/>
            </a:pPr>
            <a:r>
              <a:rPr lang="en-US" sz="1500" dirty="0">
                <a:solidFill>
                  <a:schemeClr val="tx1"/>
                </a:solidFill>
              </a:rPr>
              <a:t>To evaluate alternative training approaches beyond standard backpropagation</a:t>
            </a:r>
            <a:r>
              <a:rPr lang="en-GB" sz="1500" dirty="0">
                <a:solidFill>
                  <a:schemeClr val="tx1"/>
                </a:solidFill>
              </a:rPr>
              <a:t>.</a:t>
            </a:r>
          </a:p>
          <a:p>
            <a:pPr marL="114300" indent="0">
              <a:buClr>
                <a:schemeClr val="tx1"/>
              </a:buClr>
              <a:buNone/>
            </a:pPr>
            <a:endParaRPr lang="en-GB" sz="1500" dirty="0">
              <a:solidFill>
                <a:schemeClr val="tx1"/>
              </a:solidFill>
            </a:endParaRPr>
          </a:p>
          <a:p>
            <a:pPr>
              <a:buClr>
                <a:schemeClr val="tx1"/>
              </a:buClr>
              <a:buFont typeface="Arial" panose="020B0604020202020204" pitchFamily="34" charset="0"/>
              <a:buChar char="•"/>
            </a:pPr>
            <a:r>
              <a:rPr lang="en-US" sz="1500" dirty="0">
                <a:solidFill>
                  <a:schemeClr val="tx1"/>
                </a:solidFill>
              </a:rPr>
              <a:t>To analyze learning dynamics</a:t>
            </a:r>
            <a:r>
              <a:rPr lang="en-GB" sz="1500" dirty="0">
                <a:solidFill>
                  <a:schemeClr val="tx1"/>
                </a:solidFill>
              </a:rPr>
              <a:t>.</a:t>
            </a:r>
          </a:p>
        </p:txBody>
      </p:sp>
    </p:spTree>
    <p:extLst>
      <p:ext uri="{BB962C8B-B14F-4D97-AF65-F5344CB8AC3E}">
        <p14:creationId xmlns:p14="http://schemas.microsoft.com/office/powerpoint/2010/main" val="448863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7AF31D1-0484-661F-1046-051D402B42CB}"/>
              </a:ext>
            </a:extLst>
          </p:cNvPr>
          <p:cNvSpPr>
            <a:spLocks noGrp="1"/>
          </p:cNvSpPr>
          <p:nvPr>
            <p:ph type="title"/>
          </p:nvPr>
        </p:nvSpPr>
        <p:spPr/>
        <p:txBody>
          <a:bodyPr>
            <a:noAutofit/>
          </a:bodyPr>
          <a:lstStyle/>
          <a:p>
            <a:r>
              <a:rPr lang="en-US" sz="3000" b="1" dirty="0"/>
              <a:t>Software design &amp; libraries </a:t>
            </a:r>
          </a:p>
        </p:txBody>
      </p:sp>
      <p:sp>
        <p:nvSpPr>
          <p:cNvPr id="3" name="Segnaposto testo 2">
            <a:extLst>
              <a:ext uri="{FF2B5EF4-FFF2-40B4-BE49-F238E27FC236}">
                <a16:creationId xmlns:a16="http://schemas.microsoft.com/office/drawing/2014/main" id="{F893126D-194A-D4F5-AD2E-0B66CF332CED}"/>
              </a:ext>
            </a:extLst>
          </p:cNvPr>
          <p:cNvSpPr>
            <a:spLocks noGrp="1"/>
          </p:cNvSpPr>
          <p:nvPr>
            <p:ph type="body" idx="1"/>
          </p:nvPr>
        </p:nvSpPr>
        <p:spPr/>
        <p:txBody>
          <a:bodyPr>
            <a:noAutofit/>
          </a:bodyPr>
          <a:lstStyle/>
          <a:p>
            <a:pPr marL="114300" indent="0">
              <a:buNone/>
            </a:pPr>
            <a:r>
              <a:rPr lang="en-US" sz="1500" dirty="0">
                <a:solidFill>
                  <a:schemeClr val="tx1"/>
                </a:solidFill>
              </a:rPr>
              <a:t>LANGUAGE AND LIBRARIES USED: Python 3.14, </a:t>
            </a:r>
            <a:r>
              <a:rPr lang="en-US" sz="1500" dirty="0" err="1">
                <a:solidFill>
                  <a:schemeClr val="tx1"/>
                </a:solidFill>
              </a:rPr>
              <a:t>Numpy</a:t>
            </a:r>
            <a:r>
              <a:rPr lang="en-US" sz="1500" dirty="0">
                <a:solidFill>
                  <a:schemeClr val="tx1"/>
                </a:solidFill>
              </a:rPr>
              <a:t>, </a:t>
            </a:r>
            <a:r>
              <a:rPr lang="en-US" sz="1500" dirty="0" err="1">
                <a:solidFill>
                  <a:schemeClr val="tx1"/>
                </a:solidFill>
              </a:rPr>
              <a:t>Joblib</a:t>
            </a:r>
            <a:r>
              <a:rPr lang="en-US" sz="1500" dirty="0">
                <a:solidFill>
                  <a:schemeClr val="tx1"/>
                </a:solidFill>
              </a:rPr>
              <a:t>, Matplotlib, Pandas, </a:t>
            </a:r>
            <a:r>
              <a:rPr lang="en-US" sz="1500" dirty="0" err="1">
                <a:solidFill>
                  <a:schemeClr val="tx1"/>
                </a:solidFill>
              </a:rPr>
              <a:t>Graphviz</a:t>
            </a:r>
            <a:r>
              <a:rPr lang="en-US" sz="1500" dirty="0">
                <a:solidFill>
                  <a:schemeClr val="tx1"/>
                </a:solidFill>
              </a:rPr>
              <a:t>.</a:t>
            </a:r>
          </a:p>
          <a:p>
            <a:pPr marL="114300" indent="0">
              <a:buNone/>
            </a:pPr>
            <a:endParaRPr lang="en-US" sz="1500" dirty="0">
              <a:solidFill>
                <a:schemeClr val="tx1"/>
              </a:solidFill>
            </a:endParaRPr>
          </a:p>
          <a:p>
            <a:pPr marL="114300" indent="0">
              <a:buNone/>
            </a:pPr>
            <a:r>
              <a:rPr lang="en-US" sz="1500" dirty="0">
                <a:solidFill>
                  <a:schemeClr val="tx1"/>
                </a:solidFill>
              </a:rPr>
              <a:t>The implementation of a custom neural network allowed full control over the network architecture, weight initializer and training algorithms and over loss functions and momentum.</a:t>
            </a:r>
          </a:p>
          <a:p>
            <a:pPr marL="114300" indent="0">
              <a:buNone/>
            </a:pPr>
            <a:endParaRPr lang="en-US" sz="1500" dirty="0">
              <a:solidFill>
                <a:schemeClr val="tx1"/>
              </a:solidFill>
            </a:endParaRPr>
          </a:p>
          <a:p>
            <a:pPr marL="114300" indent="0">
              <a:buNone/>
            </a:pPr>
            <a:r>
              <a:rPr lang="en-US" sz="1500" dirty="0">
                <a:solidFill>
                  <a:schemeClr val="tx1"/>
                </a:solidFill>
              </a:rPr>
              <a:t>Its main characteristics are: </a:t>
            </a:r>
          </a:p>
          <a:p>
            <a:pPr>
              <a:buClr>
                <a:schemeClr val="tx1"/>
              </a:buClr>
              <a:buFont typeface="Arial" panose="020B0604020202020204" pitchFamily="34" charset="0"/>
              <a:buChar char="•"/>
            </a:pPr>
            <a:r>
              <a:rPr lang="en-US" sz="1500" dirty="0">
                <a:solidFill>
                  <a:schemeClr val="tx1"/>
                </a:solidFill>
              </a:rPr>
              <a:t>Fully-connected feed-forward neural network which allows for modular architecture.</a:t>
            </a:r>
          </a:p>
          <a:p>
            <a:pPr>
              <a:buClr>
                <a:schemeClr val="tx1"/>
              </a:buClr>
              <a:buFont typeface="Arial" panose="020B0604020202020204" pitchFamily="34" charset="0"/>
              <a:buChar char="•"/>
            </a:pPr>
            <a:r>
              <a:rPr lang="en-US" sz="1500" dirty="0">
                <a:solidFill>
                  <a:schemeClr val="tx1"/>
                </a:solidFill>
              </a:rPr>
              <a:t>Support for classification and regression tasks.</a:t>
            </a:r>
          </a:p>
          <a:p>
            <a:pPr>
              <a:buClr>
                <a:schemeClr val="tx1"/>
              </a:buClr>
              <a:buFont typeface="Arial" panose="020B0604020202020204" pitchFamily="34" charset="0"/>
              <a:buChar char="•"/>
            </a:pPr>
            <a:r>
              <a:rPr lang="en-US" sz="1500" dirty="0">
                <a:solidFill>
                  <a:schemeClr val="tx1"/>
                </a:solidFill>
              </a:rPr>
              <a:t>Ensemble methods were </a:t>
            </a:r>
            <a:r>
              <a:rPr lang="en-US" sz="1500" u="sng" dirty="0">
                <a:solidFill>
                  <a:schemeClr val="tx1"/>
                </a:solidFill>
              </a:rPr>
              <a:t>only</a:t>
            </a:r>
            <a:r>
              <a:rPr lang="en-US" sz="1500" dirty="0">
                <a:solidFill>
                  <a:schemeClr val="tx1"/>
                </a:solidFill>
              </a:rPr>
              <a:t> adopted for the MONK classification tasks to reduce variance and improve robustness.</a:t>
            </a:r>
          </a:p>
          <a:p>
            <a:pPr>
              <a:buClr>
                <a:schemeClr val="tx1"/>
              </a:buClr>
              <a:buFont typeface="Arial" panose="020B0604020202020204" pitchFamily="34" charset="0"/>
              <a:buChar char="•"/>
            </a:pPr>
            <a:r>
              <a:rPr lang="en-US" sz="1500" dirty="0">
                <a:solidFill>
                  <a:schemeClr val="tx1"/>
                </a:solidFill>
              </a:rPr>
              <a:t>Multiple independently trained networks were combined.</a:t>
            </a:r>
          </a:p>
          <a:p>
            <a:pPr>
              <a:buClr>
                <a:schemeClr val="tx1"/>
              </a:buClr>
              <a:buFont typeface="Arial" panose="020B0604020202020204" pitchFamily="34" charset="0"/>
              <a:buChar char="•"/>
            </a:pPr>
            <a:r>
              <a:rPr lang="en-US" sz="1500" dirty="0">
                <a:solidFill>
                  <a:schemeClr val="tx1"/>
                </a:solidFill>
              </a:rPr>
              <a:t>Final predictions were obtained by averaging model outputs.</a:t>
            </a:r>
          </a:p>
        </p:txBody>
      </p:sp>
      <p:sp>
        <p:nvSpPr>
          <p:cNvPr id="4" name="Segnaposto numero diapositiva 3">
            <a:extLst>
              <a:ext uri="{FF2B5EF4-FFF2-40B4-BE49-F238E27FC236}">
                <a16:creationId xmlns:a16="http://schemas.microsoft.com/office/drawing/2014/main" id="{0E758F44-B2B0-8DF8-6891-73996A4A38E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3</a:t>
            </a:fld>
            <a:endParaRPr lang="it-IT"/>
          </a:p>
        </p:txBody>
      </p:sp>
    </p:spTree>
    <p:extLst>
      <p:ext uri="{BB962C8B-B14F-4D97-AF65-F5344CB8AC3E}">
        <p14:creationId xmlns:p14="http://schemas.microsoft.com/office/powerpoint/2010/main" val="2035630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5BCAEC-950E-F914-2747-1A5F9332D628}"/>
              </a:ext>
            </a:extLst>
          </p:cNvPr>
          <p:cNvSpPr>
            <a:spLocks noGrp="1"/>
          </p:cNvSpPr>
          <p:nvPr>
            <p:ph type="title"/>
          </p:nvPr>
        </p:nvSpPr>
        <p:spPr/>
        <p:txBody>
          <a:bodyPr>
            <a:noAutofit/>
          </a:bodyPr>
          <a:lstStyle/>
          <a:p>
            <a:r>
              <a:rPr lang="en-US" sz="3000" b="1" dirty="0"/>
              <a:t>Architecture &amp; implementation specifics</a:t>
            </a:r>
          </a:p>
        </p:txBody>
      </p:sp>
      <p:sp>
        <p:nvSpPr>
          <p:cNvPr id="3" name="Segnaposto testo 2">
            <a:extLst>
              <a:ext uri="{FF2B5EF4-FFF2-40B4-BE49-F238E27FC236}">
                <a16:creationId xmlns:a16="http://schemas.microsoft.com/office/drawing/2014/main" id="{A8700919-A8D0-132A-5185-AEC0870C13FB}"/>
              </a:ext>
            </a:extLst>
          </p:cNvPr>
          <p:cNvSpPr>
            <a:spLocks noGrp="1"/>
          </p:cNvSpPr>
          <p:nvPr>
            <p:ph type="body" idx="1"/>
          </p:nvPr>
        </p:nvSpPr>
        <p:spPr>
          <a:xfrm>
            <a:off x="311700" y="1235217"/>
            <a:ext cx="8520600" cy="3624800"/>
          </a:xfrm>
        </p:spPr>
        <p:txBody>
          <a:bodyPr anchor="ctr">
            <a:normAutofit/>
          </a:bodyPr>
          <a:lstStyle/>
          <a:p>
            <a:pPr marL="114300" indent="0">
              <a:buNone/>
            </a:pPr>
            <a:r>
              <a:rPr lang="en-US" sz="1500" dirty="0">
                <a:solidFill>
                  <a:schemeClr val="tx1"/>
                </a:solidFill>
              </a:rPr>
              <a:t>Single and multi-hidden-layer MLPs whose number of hidden units was selected via model selection.</a:t>
            </a:r>
          </a:p>
          <a:p>
            <a:pPr marL="114300" indent="0">
              <a:buNone/>
            </a:pPr>
            <a:endParaRPr lang="en-US" sz="1500" dirty="0">
              <a:solidFill>
                <a:schemeClr val="tx1"/>
              </a:solidFill>
            </a:endParaRPr>
          </a:p>
          <a:p>
            <a:pPr>
              <a:buClr>
                <a:schemeClr val="tx1"/>
              </a:buClr>
              <a:buFont typeface="Arial" panose="020B0604020202020204" pitchFamily="34" charset="0"/>
              <a:buChar char="•"/>
            </a:pPr>
            <a:r>
              <a:rPr lang="en-US" sz="1500" u="sng" dirty="0">
                <a:solidFill>
                  <a:schemeClr val="tx1"/>
                </a:solidFill>
              </a:rPr>
              <a:t>ACTIVATION FUNCTIONS</a:t>
            </a:r>
            <a:r>
              <a:rPr lang="en-US" sz="1500" dirty="0">
                <a:solidFill>
                  <a:schemeClr val="tx1"/>
                </a:solidFill>
              </a:rPr>
              <a:t>: Sigmoid, Tanh.</a:t>
            </a:r>
          </a:p>
          <a:p>
            <a:pPr>
              <a:buClr>
                <a:schemeClr val="tx1"/>
              </a:buClr>
              <a:buFont typeface="Arial" panose="020B0604020202020204" pitchFamily="34" charset="0"/>
              <a:buChar char="•"/>
            </a:pPr>
            <a:r>
              <a:rPr lang="en-US" sz="1500" u="sng" dirty="0">
                <a:solidFill>
                  <a:schemeClr val="tx1"/>
                </a:solidFill>
              </a:rPr>
              <a:t>LOSS FUNCTIONS</a:t>
            </a:r>
            <a:r>
              <a:rPr lang="en-US" sz="1500" dirty="0">
                <a:solidFill>
                  <a:schemeClr val="tx1"/>
                </a:solidFill>
              </a:rPr>
              <a:t>: Half MSE, MSE, MEE, MAE, </a:t>
            </a:r>
            <a:r>
              <a:rPr lang="en-US" sz="1500" dirty="0" err="1">
                <a:solidFill>
                  <a:schemeClr val="tx1"/>
                </a:solidFill>
              </a:rPr>
              <a:t>Logcosh</a:t>
            </a:r>
            <a:r>
              <a:rPr lang="en-US" sz="1500" dirty="0">
                <a:solidFill>
                  <a:schemeClr val="tx1"/>
                </a:solidFill>
              </a:rPr>
              <a:t>, Binary </a:t>
            </a:r>
            <a:r>
              <a:rPr lang="en-US" sz="1500" dirty="0" err="1">
                <a:solidFill>
                  <a:schemeClr val="tx1"/>
                </a:solidFill>
              </a:rPr>
              <a:t>Crossentropy</a:t>
            </a:r>
            <a:r>
              <a:rPr lang="en-US" sz="1500" dirty="0">
                <a:solidFill>
                  <a:schemeClr val="tx1"/>
                </a:solidFill>
              </a:rPr>
              <a:t>, Huber.</a:t>
            </a:r>
          </a:p>
          <a:p>
            <a:pPr>
              <a:buClr>
                <a:schemeClr val="tx1"/>
              </a:buClr>
              <a:buFont typeface="Arial" panose="020B0604020202020204" pitchFamily="34" charset="0"/>
              <a:buChar char="•"/>
            </a:pPr>
            <a:r>
              <a:rPr lang="en-US" sz="1500" u="sng" dirty="0">
                <a:solidFill>
                  <a:schemeClr val="tx1"/>
                </a:solidFill>
              </a:rPr>
              <a:t>TRAINING ALGORITHMS</a:t>
            </a:r>
            <a:r>
              <a:rPr lang="en-US" sz="1500" dirty="0">
                <a:solidFill>
                  <a:schemeClr val="tx1"/>
                </a:solidFill>
              </a:rPr>
              <a:t>: Stochastic Gradient Descent (SGD), SGD with momentum, RPROP and QuickProp.</a:t>
            </a:r>
          </a:p>
          <a:p>
            <a:pPr>
              <a:buClr>
                <a:schemeClr val="tx1"/>
              </a:buClr>
              <a:buFont typeface="Arial" panose="020B0604020202020204" pitchFamily="34" charset="0"/>
              <a:buChar char="•"/>
            </a:pPr>
            <a:r>
              <a:rPr lang="en-US" sz="1500" u="sng" dirty="0">
                <a:solidFill>
                  <a:schemeClr val="tx1"/>
                </a:solidFill>
              </a:rPr>
              <a:t>REGULARIZATION</a:t>
            </a:r>
            <a:r>
              <a:rPr lang="en-US" sz="1500" dirty="0">
                <a:solidFill>
                  <a:schemeClr val="tx1"/>
                </a:solidFill>
              </a:rPr>
              <a:t>: L2 (Tikhonov).</a:t>
            </a:r>
          </a:p>
          <a:p>
            <a:pPr>
              <a:buClr>
                <a:schemeClr val="tx1"/>
              </a:buClr>
              <a:buFont typeface="Arial" panose="020B0604020202020204" pitchFamily="34" charset="0"/>
              <a:buChar char="•"/>
            </a:pPr>
            <a:r>
              <a:rPr lang="en-US" sz="1500" u="sng" dirty="0">
                <a:solidFill>
                  <a:schemeClr val="tx1"/>
                </a:solidFill>
              </a:rPr>
              <a:t>OPTIMIZATION DETAILS</a:t>
            </a:r>
            <a:r>
              <a:rPr lang="en-US" sz="1500" dirty="0">
                <a:solidFill>
                  <a:schemeClr val="tx1"/>
                </a:solidFill>
              </a:rPr>
              <a:t>: Mini-batch training, learning rate decay on validation plateau, early stopping based on validation error.</a:t>
            </a:r>
          </a:p>
          <a:p>
            <a:pPr marL="114300" indent="0">
              <a:buNone/>
            </a:pPr>
            <a:endParaRPr lang="en-US" sz="1500" dirty="0">
              <a:solidFill>
                <a:schemeClr val="tx1"/>
              </a:solidFill>
            </a:endParaRPr>
          </a:p>
        </p:txBody>
      </p:sp>
      <p:sp>
        <p:nvSpPr>
          <p:cNvPr id="4" name="Segnaposto numero diapositiva 3">
            <a:extLst>
              <a:ext uri="{FF2B5EF4-FFF2-40B4-BE49-F238E27FC236}">
                <a16:creationId xmlns:a16="http://schemas.microsoft.com/office/drawing/2014/main" id="{A6D3C734-11F4-64E4-A136-7EEF4F73D8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4</a:t>
            </a:fld>
            <a:endParaRPr lang="it-IT"/>
          </a:p>
        </p:txBody>
      </p:sp>
    </p:spTree>
    <p:extLst>
      <p:ext uri="{BB962C8B-B14F-4D97-AF65-F5344CB8AC3E}">
        <p14:creationId xmlns:p14="http://schemas.microsoft.com/office/powerpoint/2010/main" val="3308046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0D62932-426C-2CC9-F9B3-C01FBA057537}"/>
              </a:ext>
            </a:extLst>
          </p:cNvPr>
          <p:cNvSpPr>
            <a:spLocks noGrp="1"/>
          </p:cNvSpPr>
          <p:nvPr>
            <p:ph type="title"/>
          </p:nvPr>
        </p:nvSpPr>
        <p:spPr>
          <a:xfrm>
            <a:off x="311700" y="494898"/>
            <a:ext cx="8520600" cy="572700"/>
          </a:xfrm>
        </p:spPr>
        <p:txBody>
          <a:bodyPr>
            <a:noAutofit/>
          </a:bodyPr>
          <a:lstStyle/>
          <a:p>
            <a:r>
              <a:rPr lang="en-US" sz="3000" b="1" dirty="0"/>
              <a:t>Implementation specifics for CC</a:t>
            </a:r>
          </a:p>
        </p:txBody>
      </p:sp>
      <p:sp>
        <p:nvSpPr>
          <p:cNvPr id="3" name="Segnaposto testo 2">
            <a:extLst>
              <a:ext uri="{FF2B5EF4-FFF2-40B4-BE49-F238E27FC236}">
                <a16:creationId xmlns:a16="http://schemas.microsoft.com/office/drawing/2014/main" id="{20381398-78D6-3346-CF59-4D69975C654E}"/>
              </a:ext>
            </a:extLst>
          </p:cNvPr>
          <p:cNvSpPr>
            <a:spLocks noGrp="1"/>
          </p:cNvSpPr>
          <p:nvPr>
            <p:ph type="body" idx="1"/>
          </p:nvPr>
        </p:nvSpPr>
        <p:spPr>
          <a:xfrm>
            <a:off x="311700" y="1477736"/>
            <a:ext cx="8520600" cy="3028950"/>
          </a:xfrm>
        </p:spPr>
        <p:txBody>
          <a:bodyPr anchor="ctr">
            <a:noAutofit/>
          </a:bodyPr>
          <a:lstStyle/>
          <a:p>
            <a:pPr marL="285750" indent="-285750">
              <a:buClr>
                <a:schemeClr val="tx1"/>
              </a:buClr>
              <a:buFont typeface="Arial" panose="020B0604020202020204" pitchFamily="34" charset="0"/>
              <a:buChar char="•"/>
            </a:pPr>
            <a:r>
              <a:rPr lang="en-US" sz="1500" u="sng" dirty="0">
                <a:solidFill>
                  <a:schemeClr val="tx1"/>
                </a:solidFill>
                <a:latin typeface="+mj-lt"/>
              </a:rPr>
              <a:t>Number of hidden units:</a:t>
            </a:r>
            <a:r>
              <a:rPr lang="en-US" sz="1500" dirty="0">
                <a:solidFill>
                  <a:schemeClr val="tx1"/>
                </a:solidFill>
                <a:latin typeface="+mj-lt"/>
              </a:rPr>
              <a:t> fixed at 20 and controlled by the max_hidden_units hyperparameter;</a:t>
            </a:r>
          </a:p>
          <a:p>
            <a:pPr marL="285750" indent="-285750">
              <a:buClr>
                <a:schemeClr val="tx1"/>
              </a:buClr>
              <a:buFont typeface="Arial" panose="020B0604020202020204" pitchFamily="34" charset="0"/>
              <a:buChar char="•"/>
            </a:pPr>
            <a:r>
              <a:rPr lang="en-US" sz="1500" u="sng" dirty="0">
                <a:solidFill>
                  <a:schemeClr val="tx1"/>
                </a:solidFill>
                <a:latin typeface="+mj-lt"/>
              </a:rPr>
              <a:t>Activation function:</a:t>
            </a:r>
            <a:r>
              <a:rPr lang="en-US" sz="1500" dirty="0">
                <a:solidFill>
                  <a:schemeClr val="tx1"/>
                </a:solidFill>
                <a:latin typeface="+mj-lt"/>
              </a:rPr>
              <a:t> tanh to map inputs/outputs in the range [-1, 1] both in the hidden and output units;</a:t>
            </a:r>
          </a:p>
          <a:p>
            <a:pPr marL="285750" indent="-285750">
              <a:buClr>
                <a:schemeClr val="tx1"/>
              </a:buClr>
              <a:buFont typeface="Arial" panose="020B0604020202020204" pitchFamily="34" charset="0"/>
              <a:buChar char="•"/>
            </a:pPr>
            <a:r>
              <a:rPr lang="en-US" sz="1500" u="sng" dirty="0">
                <a:solidFill>
                  <a:schemeClr val="tx1"/>
                </a:solidFill>
                <a:latin typeface="+mj-lt"/>
              </a:rPr>
              <a:t>Training algorithms:</a:t>
            </a:r>
            <a:r>
              <a:rPr lang="en-US" sz="1500" dirty="0">
                <a:solidFill>
                  <a:schemeClr val="tx1"/>
                </a:solidFill>
                <a:latin typeface="+mj-lt"/>
              </a:rPr>
              <a:t> Quickprop and Rprop to speed up convergence and Gradient Ascent to maximize the correlation score S;</a:t>
            </a:r>
          </a:p>
          <a:p>
            <a:pPr marL="285750" indent="-285750">
              <a:buClr>
                <a:schemeClr val="tx1"/>
              </a:buClr>
              <a:buFont typeface="Arial" panose="020B0604020202020204" pitchFamily="34" charset="0"/>
              <a:buChar char="•"/>
            </a:pPr>
            <a:r>
              <a:rPr lang="en-US" sz="1500" u="sng" dirty="0">
                <a:solidFill>
                  <a:schemeClr val="tx1"/>
                </a:solidFill>
                <a:latin typeface="+mj-lt"/>
              </a:rPr>
              <a:t>Learning mode:</a:t>
            </a:r>
            <a:r>
              <a:rPr lang="en-US" sz="1500" dirty="0">
                <a:solidFill>
                  <a:schemeClr val="tx1"/>
                </a:solidFill>
                <a:latin typeface="+mj-lt"/>
              </a:rPr>
              <a:t> Full-Batch learning to ensure </a:t>
            </a:r>
            <a:r>
              <a:rPr lang="it-IT" sz="1500" dirty="0">
                <a:solidFill>
                  <a:schemeClr val="tx1"/>
                </a:solidFill>
                <a:latin typeface="+mj-lt"/>
              </a:rPr>
              <a:t>stable convergence </a:t>
            </a:r>
            <a:r>
              <a:rPr lang="it-IT" sz="1500" dirty="0" err="1">
                <a:solidFill>
                  <a:schemeClr val="tx1"/>
                </a:solidFill>
                <a:latin typeface="+mj-lt"/>
              </a:rPr>
              <a:t>statistics</a:t>
            </a:r>
            <a:r>
              <a:rPr lang="it-IT" sz="1500" dirty="0">
                <a:solidFill>
                  <a:schemeClr val="tx1"/>
                </a:solidFill>
                <a:latin typeface="+mj-lt"/>
              </a:rPr>
              <a:t>.</a:t>
            </a:r>
            <a:endParaRPr lang="it-IT" sz="1500" dirty="0">
              <a:solidFill>
                <a:schemeClr val="tx1"/>
              </a:solidFill>
            </a:endParaRPr>
          </a:p>
          <a:p>
            <a:pPr marL="285750" indent="-285750">
              <a:buClr>
                <a:schemeClr val="tx1"/>
              </a:buClr>
              <a:buFont typeface="Arial" panose="020B0604020202020204" pitchFamily="34" charset="0"/>
              <a:buChar char="•"/>
            </a:pPr>
            <a:r>
              <a:rPr lang="it-IT" sz="1500" dirty="0">
                <a:solidFill>
                  <a:schemeClr val="tx1"/>
                </a:solidFill>
              </a:rPr>
              <a:t>Xavier </a:t>
            </a:r>
            <a:r>
              <a:rPr lang="it-IT" sz="1500" u="sng" dirty="0">
                <a:solidFill>
                  <a:schemeClr val="tx1"/>
                </a:solidFill>
              </a:rPr>
              <a:t>initialization</a:t>
            </a:r>
            <a:r>
              <a:rPr lang="it-IT" sz="1500" dirty="0">
                <a:solidFill>
                  <a:schemeClr val="tx1"/>
                </a:solidFill>
              </a:rPr>
              <a:t> applied to </a:t>
            </a:r>
            <a:r>
              <a:rPr lang="en-US" sz="1500" dirty="0">
                <a:solidFill>
                  <a:schemeClr val="tx1"/>
                </a:solidFill>
              </a:rPr>
              <a:t>weights to maintain variance across connections;</a:t>
            </a:r>
          </a:p>
          <a:p>
            <a:pPr marL="285750" indent="-285750">
              <a:buClr>
                <a:schemeClr val="tx1"/>
              </a:buClr>
              <a:buFont typeface="Arial" panose="020B0604020202020204" pitchFamily="34" charset="0"/>
              <a:buChar char="•"/>
            </a:pPr>
            <a:r>
              <a:rPr lang="en-US" sz="1500" dirty="0">
                <a:solidFill>
                  <a:schemeClr val="tx1"/>
                </a:solidFill>
              </a:rPr>
              <a:t>L2 </a:t>
            </a:r>
            <a:r>
              <a:rPr lang="en-US" sz="1500" u="sng" dirty="0">
                <a:solidFill>
                  <a:schemeClr val="tx1"/>
                </a:solidFill>
              </a:rPr>
              <a:t>regularization</a:t>
            </a:r>
            <a:r>
              <a:rPr lang="en-US" sz="1500" dirty="0">
                <a:solidFill>
                  <a:schemeClr val="tx1"/>
                </a:solidFill>
              </a:rPr>
              <a:t> to prevent overfitting;</a:t>
            </a:r>
          </a:p>
          <a:p>
            <a:pPr marL="285750" indent="-285750">
              <a:buClr>
                <a:schemeClr val="tx1"/>
              </a:buClr>
              <a:buFont typeface="Arial" panose="020B0604020202020204" pitchFamily="34" charset="0"/>
              <a:buChar char="•"/>
            </a:pPr>
            <a:r>
              <a:rPr lang="en-US" sz="1500" u="sng" dirty="0">
                <a:solidFill>
                  <a:schemeClr val="tx1"/>
                </a:solidFill>
              </a:rPr>
              <a:t>Stop conditions</a:t>
            </a:r>
            <a:r>
              <a:rPr lang="en-US" sz="1500" dirty="0">
                <a:solidFill>
                  <a:schemeClr val="tx1"/>
                </a:solidFill>
              </a:rPr>
              <a:t>: when the </a:t>
            </a:r>
            <a:r>
              <a:rPr lang="it-IT" altLang="it-IT" sz="1500" dirty="0">
                <a:solidFill>
                  <a:schemeClr val="tx1"/>
                </a:solidFill>
              </a:rPr>
              <a:t>validation error stops improving for a set num of epochs (patience) or The network stops adding new hidden units when the error is low enough (tolerance) or the maximum size is reached.</a:t>
            </a:r>
          </a:p>
          <a:p>
            <a:pPr marL="0" indent="0">
              <a:buNone/>
            </a:pPr>
            <a:endParaRPr lang="en-US" sz="1500" dirty="0"/>
          </a:p>
          <a:p>
            <a:pPr marL="0" indent="0">
              <a:buNone/>
            </a:pPr>
            <a:endParaRPr lang="en-US" sz="1500" dirty="0">
              <a:solidFill>
                <a:schemeClr val="tx1"/>
              </a:solidFill>
              <a:latin typeface="+mj-lt"/>
            </a:endParaRPr>
          </a:p>
        </p:txBody>
      </p:sp>
      <p:sp>
        <p:nvSpPr>
          <p:cNvPr id="4" name="Segnaposto numero diapositiva 3">
            <a:extLst>
              <a:ext uri="{FF2B5EF4-FFF2-40B4-BE49-F238E27FC236}">
                <a16:creationId xmlns:a16="http://schemas.microsoft.com/office/drawing/2014/main" id="{18AFEFDF-840C-162C-9598-373FC6B6376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5</a:t>
            </a:fld>
            <a:endParaRPr lang="it-IT"/>
          </a:p>
        </p:txBody>
      </p:sp>
    </p:spTree>
    <p:extLst>
      <p:ext uri="{BB962C8B-B14F-4D97-AF65-F5344CB8AC3E}">
        <p14:creationId xmlns:p14="http://schemas.microsoft.com/office/powerpoint/2010/main" val="761015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90F2DD-DA40-66EF-3601-F7FC19832F4A}"/>
              </a:ext>
            </a:extLst>
          </p:cNvPr>
          <p:cNvSpPr>
            <a:spLocks noGrp="1"/>
          </p:cNvSpPr>
          <p:nvPr>
            <p:ph type="title"/>
          </p:nvPr>
        </p:nvSpPr>
        <p:spPr/>
        <p:txBody>
          <a:bodyPr>
            <a:noAutofit/>
          </a:bodyPr>
          <a:lstStyle/>
          <a:p>
            <a:r>
              <a:rPr lang="en-US" sz="3000" b="1" dirty="0"/>
              <a:t>Preprocessing &amp; validation schema</a:t>
            </a:r>
          </a:p>
        </p:txBody>
      </p:sp>
      <p:sp>
        <p:nvSpPr>
          <p:cNvPr id="3" name="Segnaposto testo 2">
            <a:extLst>
              <a:ext uri="{FF2B5EF4-FFF2-40B4-BE49-F238E27FC236}">
                <a16:creationId xmlns:a16="http://schemas.microsoft.com/office/drawing/2014/main" id="{A6E98325-85B3-9CC2-4762-DC3BE1E81FC3}"/>
              </a:ext>
            </a:extLst>
          </p:cNvPr>
          <p:cNvSpPr>
            <a:spLocks noGrp="1"/>
          </p:cNvSpPr>
          <p:nvPr>
            <p:ph type="body" idx="1"/>
          </p:nvPr>
        </p:nvSpPr>
        <p:spPr>
          <a:xfrm>
            <a:off x="311700" y="1152475"/>
            <a:ext cx="4260300" cy="3416400"/>
          </a:xfrm>
        </p:spPr>
        <p:txBody>
          <a:bodyPr anchor="ctr">
            <a:noAutofit/>
          </a:bodyPr>
          <a:lstStyle/>
          <a:p>
            <a:pPr marL="114300" indent="0">
              <a:buNone/>
            </a:pPr>
            <a:r>
              <a:rPr lang="en-US" sz="1500" b="1" dirty="0">
                <a:solidFill>
                  <a:schemeClr val="tx1"/>
                </a:solidFill>
              </a:rPr>
              <a:t>INPUT NORMALIZATION</a:t>
            </a:r>
            <a:r>
              <a:rPr lang="en-US" sz="1500" dirty="0">
                <a:solidFill>
                  <a:schemeClr val="tx1"/>
                </a:solidFill>
              </a:rPr>
              <a:t>:</a:t>
            </a:r>
          </a:p>
          <a:p>
            <a:pPr>
              <a:buClr>
                <a:schemeClr val="tx1"/>
              </a:buClr>
              <a:buFont typeface="Arial" panose="020B0604020202020204" pitchFamily="34" charset="0"/>
              <a:buChar char="•"/>
            </a:pPr>
            <a:r>
              <a:rPr lang="en-US" sz="1500" dirty="0">
                <a:solidFill>
                  <a:schemeClr val="tx1"/>
                </a:solidFill>
              </a:rPr>
              <a:t>MONK: one-hot encoding.</a:t>
            </a:r>
          </a:p>
          <a:p>
            <a:pPr>
              <a:buClr>
                <a:schemeClr val="tx1"/>
              </a:buClr>
              <a:buFont typeface="Arial" panose="020B0604020202020204" pitchFamily="34" charset="0"/>
              <a:buChar char="•"/>
            </a:pPr>
            <a:r>
              <a:rPr lang="en-US" sz="1500" dirty="0">
                <a:solidFill>
                  <a:schemeClr val="tx1"/>
                </a:solidFill>
              </a:rPr>
              <a:t>CUP: min–max normalization.</a:t>
            </a:r>
          </a:p>
          <a:p>
            <a:pPr marL="114300" indent="0">
              <a:buNone/>
            </a:pPr>
            <a:r>
              <a:rPr lang="en-US" sz="1500" b="1" dirty="0">
                <a:solidFill>
                  <a:schemeClr val="tx1"/>
                </a:solidFill>
              </a:rPr>
              <a:t>OUTPUT NORMALIZATION</a:t>
            </a:r>
            <a:r>
              <a:rPr lang="en-US" sz="1500" dirty="0">
                <a:solidFill>
                  <a:schemeClr val="tx1"/>
                </a:solidFill>
              </a:rPr>
              <a:t>:</a:t>
            </a:r>
          </a:p>
          <a:p>
            <a:pPr>
              <a:buClr>
                <a:schemeClr val="tx1"/>
              </a:buClr>
              <a:buFont typeface="Arial" panose="020B0604020202020204" pitchFamily="34" charset="0"/>
              <a:buChar char="•"/>
            </a:pPr>
            <a:r>
              <a:rPr lang="en-US" sz="1500" dirty="0">
                <a:solidFill>
                  <a:schemeClr val="tx1"/>
                </a:solidFill>
              </a:rPr>
              <a:t>CUP: Targets scaled to symmetric ranges compatible with Tanh.</a:t>
            </a:r>
          </a:p>
          <a:p>
            <a:pPr marL="114300" indent="0">
              <a:buClr>
                <a:schemeClr val="tx1"/>
              </a:buClr>
              <a:buNone/>
            </a:pPr>
            <a:endParaRPr lang="en-US" sz="1500" dirty="0">
              <a:solidFill>
                <a:schemeClr val="tx1"/>
              </a:solidFill>
            </a:endParaRPr>
          </a:p>
          <a:p>
            <a:pPr marL="114300" indent="0">
              <a:buClr>
                <a:schemeClr val="tx1"/>
              </a:buClr>
              <a:buNone/>
            </a:pPr>
            <a:r>
              <a:rPr lang="en-US" sz="1500" dirty="0">
                <a:solidFill>
                  <a:schemeClr val="tx1"/>
                </a:solidFill>
              </a:rPr>
              <a:t>Denormalization was applied before computing final performance metrics.</a:t>
            </a:r>
          </a:p>
          <a:p>
            <a:pPr marL="114300" indent="0">
              <a:buClr>
                <a:schemeClr val="tx1"/>
              </a:buClr>
              <a:buNone/>
            </a:pPr>
            <a:endParaRPr lang="en-US" sz="1500" dirty="0">
              <a:solidFill>
                <a:schemeClr val="tx1"/>
              </a:solidFill>
            </a:endParaRPr>
          </a:p>
          <a:p>
            <a:pPr marL="114300" indent="0">
              <a:buNone/>
            </a:pPr>
            <a:r>
              <a:rPr lang="en-US" sz="1500" dirty="0">
                <a:solidFill>
                  <a:schemeClr val="tx1"/>
                </a:solidFill>
              </a:rPr>
              <a:t>Dataset shuffle both for MONK's problems and CUP.</a:t>
            </a:r>
          </a:p>
        </p:txBody>
      </p:sp>
      <p:sp>
        <p:nvSpPr>
          <p:cNvPr id="4" name="Segnaposto numero diapositiva 3">
            <a:extLst>
              <a:ext uri="{FF2B5EF4-FFF2-40B4-BE49-F238E27FC236}">
                <a16:creationId xmlns:a16="http://schemas.microsoft.com/office/drawing/2014/main" id="{ADD26DB3-0296-23ED-7C4E-DC643A2B989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6</a:t>
            </a:fld>
            <a:endParaRPr lang="it-IT"/>
          </a:p>
        </p:txBody>
      </p:sp>
      <p:sp>
        <p:nvSpPr>
          <p:cNvPr id="5" name="Segnaposto testo 2">
            <a:extLst>
              <a:ext uri="{FF2B5EF4-FFF2-40B4-BE49-F238E27FC236}">
                <a16:creationId xmlns:a16="http://schemas.microsoft.com/office/drawing/2014/main" id="{16129857-7137-3364-7B0F-A779DB8CA31F}"/>
              </a:ext>
            </a:extLst>
          </p:cNvPr>
          <p:cNvSpPr txBox="1">
            <a:spLocks/>
          </p:cNvSpPr>
          <p:nvPr/>
        </p:nvSpPr>
        <p:spPr>
          <a:xfrm>
            <a:off x="4572000" y="1132271"/>
            <a:ext cx="42603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500" b="1" dirty="0">
                <a:solidFill>
                  <a:schemeClr val="tx1"/>
                </a:solidFill>
              </a:rPr>
              <a:t>MONK DATASET</a:t>
            </a:r>
            <a:r>
              <a:rPr lang="en-US" sz="1500" dirty="0">
                <a:solidFill>
                  <a:schemeClr val="tx1"/>
                </a:solidFill>
              </a:rPr>
              <a:t>:</a:t>
            </a:r>
          </a:p>
          <a:p>
            <a:pPr>
              <a:buClr>
                <a:schemeClr val="tx1"/>
              </a:buClr>
              <a:buFont typeface="Arial" panose="020B0604020202020204" pitchFamily="34" charset="0"/>
              <a:buChar char="•"/>
            </a:pPr>
            <a:r>
              <a:rPr lang="en-US" sz="1500" dirty="0">
                <a:solidFill>
                  <a:schemeClr val="tx1"/>
                </a:solidFill>
              </a:rPr>
              <a:t>Predefined training and test sets.</a:t>
            </a:r>
          </a:p>
          <a:p>
            <a:pPr marL="114300" indent="0">
              <a:buClr>
                <a:schemeClr val="tx1"/>
              </a:buClr>
              <a:buNone/>
            </a:pPr>
            <a:r>
              <a:rPr lang="en-US" sz="1500" dirty="0">
                <a:solidFill>
                  <a:schemeClr val="tx1"/>
                </a:solidFill>
              </a:rPr>
              <a:t>Test set used only once for final evaluation.</a:t>
            </a:r>
          </a:p>
          <a:p>
            <a:pPr marL="114300" indent="0">
              <a:buNone/>
            </a:pPr>
            <a:r>
              <a:rPr lang="en-US" sz="1500" b="1" dirty="0">
                <a:solidFill>
                  <a:schemeClr val="tx1"/>
                </a:solidFill>
              </a:rPr>
              <a:t>CUP DATASET</a:t>
            </a:r>
            <a:r>
              <a:rPr lang="en-US" sz="1500" dirty="0">
                <a:solidFill>
                  <a:schemeClr val="tx1"/>
                </a:solidFill>
              </a:rPr>
              <a:t>:</a:t>
            </a:r>
          </a:p>
          <a:p>
            <a:pPr>
              <a:buClr>
                <a:schemeClr val="tx1"/>
              </a:buClr>
              <a:buFont typeface="Arial" panose="020B0604020202020204" pitchFamily="34" charset="0"/>
              <a:buChar char="•"/>
            </a:pPr>
            <a:r>
              <a:rPr lang="en-US" sz="1500" dirty="0">
                <a:solidFill>
                  <a:schemeClr val="tx1"/>
                </a:solidFill>
              </a:rPr>
              <a:t>Explicit split into Training / Validation / Internal Test sets.</a:t>
            </a:r>
          </a:p>
          <a:p>
            <a:pPr marL="114300" indent="0">
              <a:buClr>
                <a:schemeClr val="tx1"/>
              </a:buClr>
              <a:buNone/>
            </a:pPr>
            <a:r>
              <a:rPr lang="en-US" sz="1500" dirty="0">
                <a:solidFill>
                  <a:schemeClr val="tx1"/>
                </a:solidFill>
              </a:rPr>
              <a:t>Validation set used for model selection and internal test set used for final assessment before blind test.</a:t>
            </a:r>
          </a:p>
        </p:txBody>
      </p:sp>
    </p:spTree>
    <p:extLst>
      <p:ext uri="{BB962C8B-B14F-4D97-AF65-F5344CB8AC3E}">
        <p14:creationId xmlns:p14="http://schemas.microsoft.com/office/powerpoint/2010/main" val="2446386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64B8AC-ED3F-A41C-9BD8-5E0A0A8A0C3C}"/>
              </a:ext>
            </a:extLst>
          </p:cNvPr>
          <p:cNvSpPr>
            <a:spLocks noGrp="1"/>
          </p:cNvSpPr>
          <p:nvPr>
            <p:ph type="title"/>
          </p:nvPr>
        </p:nvSpPr>
        <p:spPr>
          <a:xfrm>
            <a:off x="311700" y="314396"/>
            <a:ext cx="8520600" cy="572700"/>
          </a:xfrm>
        </p:spPr>
        <p:txBody>
          <a:bodyPr>
            <a:noAutofit/>
          </a:bodyPr>
          <a:lstStyle/>
          <a:p>
            <a:r>
              <a:rPr lang="en-US" sz="3000" b="1" dirty="0"/>
              <a:t>Validation schema &amp; Screening phase for CC</a:t>
            </a:r>
          </a:p>
        </p:txBody>
      </p:sp>
      <p:sp>
        <p:nvSpPr>
          <p:cNvPr id="3" name="Segnaposto testo 2">
            <a:extLst>
              <a:ext uri="{FF2B5EF4-FFF2-40B4-BE49-F238E27FC236}">
                <a16:creationId xmlns:a16="http://schemas.microsoft.com/office/drawing/2014/main" id="{066CA2F6-7FFF-DC5F-2833-5150A0E2CD7E}"/>
              </a:ext>
            </a:extLst>
          </p:cNvPr>
          <p:cNvSpPr>
            <a:spLocks noGrp="1"/>
          </p:cNvSpPr>
          <p:nvPr>
            <p:ph type="body" idx="1"/>
          </p:nvPr>
        </p:nvSpPr>
        <p:spPr>
          <a:xfrm>
            <a:off x="311700" y="1000478"/>
            <a:ext cx="8520600" cy="3991025"/>
          </a:xfrm>
        </p:spPr>
        <p:txBody>
          <a:bodyPr anchor="ctr">
            <a:noAutofit/>
          </a:bodyPr>
          <a:lstStyle/>
          <a:p>
            <a:pPr marL="0" indent="0" algn="just">
              <a:lnSpc>
                <a:spcPct val="150000"/>
              </a:lnSpc>
              <a:buNone/>
            </a:pPr>
            <a:r>
              <a:rPr lang="en-US" sz="1500" dirty="0">
                <a:solidFill>
                  <a:schemeClr val="tx1"/>
                </a:solidFill>
                <a:latin typeface="+mj-lt"/>
              </a:rPr>
              <a:t>We implemented a Hold-Out validation strategy managed by </a:t>
            </a:r>
            <a:r>
              <a:rPr lang="en-US" sz="1500" dirty="0">
                <a:solidFill>
                  <a:schemeClr val="tx1"/>
                </a:solidFill>
                <a:latin typeface="Consolas" panose="020B0609020204030204" pitchFamily="49" charset="0"/>
              </a:rPr>
              <a:t>data_manipulation.py</a:t>
            </a:r>
            <a:r>
              <a:rPr lang="en-US" sz="1500" dirty="0">
                <a:solidFill>
                  <a:schemeClr val="tx1"/>
                </a:solidFill>
                <a:latin typeface="+mj-lt"/>
              </a:rPr>
              <a:t>. The dataset was partitioned into a Training Set (85%) for weight optimization and a Validation Set (15%) specifically used to guide the constructive early stopping mechanism, while keeping an Internal Test Set completely isolated for the final model assessment. </a:t>
            </a:r>
          </a:p>
          <a:p>
            <a:pPr marL="0" indent="0" algn="just">
              <a:lnSpc>
                <a:spcPct val="150000"/>
              </a:lnSpc>
              <a:buNone/>
            </a:pPr>
            <a:r>
              <a:rPr lang="en-US" sz="1500" dirty="0">
                <a:solidFill>
                  <a:schemeClr val="tx1"/>
                </a:solidFill>
                <a:latin typeface="+mj-lt"/>
              </a:rPr>
              <a:t>The preliminary screening phase revealed that the constructive nature of the Cascade algorithm drastically alters the loss landscape compared to static topologies. Consequently, standard patience settings proved inadequate, requiring a calibrated two-stage search protocol (Coarse and Fine) to identify the optimal balance between learning rates and tolerance thresholds</a:t>
            </a:r>
            <a:r>
              <a:rPr lang="en-US" sz="1500" dirty="0">
                <a:latin typeface="+mj-lt"/>
              </a:rPr>
              <a:t>.</a:t>
            </a:r>
          </a:p>
        </p:txBody>
      </p:sp>
      <p:sp>
        <p:nvSpPr>
          <p:cNvPr id="4" name="Segnaposto numero diapositiva 3">
            <a:extLst>
              <a:ext uri="{FF2B5EF4-FFF2-40B4-BE49-F238E27FC236}">
                <a16:creationId xmlns:a16="http://schemas.microsoft.com/office/drawing/2014/main" id="{5309B0AB-D7EC-CA36-11F3-81D513566EC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7</a:t>
            </a:fld>
            <a:endParaRPr lang="it-IT"/>
          </a:p>
        </p:txBody>
      </p:sp>
    </p:spTree>
    <p:extLst>
      <p:ext uri="{BB962C8B-B14F-4D97-AF65-F5344CB8AC3E}">
        <p14:creationId xmlns:p14="http://schemas.microsoft.com/office/powerpoint/2010/main" val="3680892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263B4A-4386-E227-6E6E-D48151DC4594}"/>
              </a:ext>
            </a:extLst>
          </p:cNvPr>
          <p:cNvSpPr>
            <a:spLocks noGrp="1"/>
          </p:cNvSpPr>
          <p:nvPr>
            <p:ph type="title"/>
          </p:nvPr>
        </p:nvSpPr>
        <p:spPr/>
        <p:txBody>
          <a:bodyPr>
            <a:noAutofit/>
          </a:bodyPr>
          <a:lstStyle/>
          <a:p>
            <a:r>
              <a:rPr lang="en-US" sz="3000" b="1" dirty="0"/>
              <a:t>Hyperparameter space of CC</a:t>
            </a:r>
          </a:p>
        </p:txBody>
      </p:sp>
      <p:sp>
        <p:nvSpPr>
          <p:cNvPr id="4" name="Segnaposto numero diapositiva 3">
            <a:extLst>
              <a:ext uri="{FF2B5EF4-FFF2-40B4-BE49-F238E27FC236}">
                <a16:creationId xmlns:a16="http://schemas.microsoft.com/office/drawing/2014/main" id="{4D272392-EEB9-AE4A-E42B-E2E29E8ED29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8</a:t>
            </a:fld>
            <a:endParaRPr lang="it-IT"/>
          </a:p>
        </p:txBody>
      </p:sp>
      <p:sp>
        <p:nvSpPr>
          <p:cNvPr id="5" name="Rectangle 1">
            <a:extLst>
              <a:ext uri="{FF2B5EF4-FFF2-40B4-BE49-F238E27FC236}">
                <a16:creationId xmlns:a16="http://schemas.microsoft.com/office/drawing/2014/main" id="{9FF2C1A8-71C8-5A37-2931-D2801BEB7100}"/>
              </a:ext>
            </a:extLst>
          </p:cNvPr>
          <p:cNvSpPr>
            <a:spLocks noGrp="1" noChangeArrowheads="1"/>
          </p:cNvSpPr>
          <p:nvPr>
            <p:ph type="body" idx="1"/>
          </p:nvPr>
        </p:nvSpPr>
        <p:spPr bwMode="auto">
          <a:xfrm>
            <a:off x="311700" y="1452597"/>
            <a:ext cx="8520600" cy="28161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sz="1500" i="0" u="none" strike="noStrike" cap="none" normalizeH="0" baseline="0" noProof="0" dirty="0">
                <a:ln>
                  <a:noFill/>
                </a:ln>
                <a:solidFill>
                  <a:schemeClr val="tx1"/>
                </a:solidFill>
                <a:effectLst/>
                <a:latin typeface="+mj-lt"/>
              </a:rPr>
              <a:t>Model selection was conducted via a parallelized Grid Search implemented in </a:t>
            </a:r>
            <a:r>
              <a:rPr kumimoji="0" lang="en-US" sz="1500" i="0" u="none" strike="noStrike" cap="none" normalizeH="0" baseline="0" noProof="0" dirty="0">
                <a:ln>
                  <a:noFill/>
                </a:ln>
                <a:solidFill>
                  <a:schemeClr val="tx1"/>
                </a:solidFill>
                <a:effectLst/>
                <a:latin typeface="Consolas" panose="020B0609020204030204" pitchFamily="49" charset="0"/>
              </a:rPr>
              <a:t>cascade_grid_search.py</a:t>
            </a:r>
            <a:r>
              <a:rPr kumimoji="0" lang="en-US" sz="1500" i="0" u="none" strike="noStrike" cap="none" normalizeH="0" baseline="0" noProof="0" dirty="0">
                <a:ln>
                  <a:noFill/>
                </a:ln>
                <a:solidFill>
                  <a:schemeClr val="tx1"/>
                </a:solidFill>
                <a:effectLst/>
                <a:latin typeface="+mj-lt"/>
              </a:rPr>
              <a:t>. We explored a comprehensive hyperparameter space including learning rate, patience, tolerance, and the regularization factor. </a:t>
            </a:r>
          </a:p>
          <a:p>
            <a:pPr marL="0" marR="0" lvl="0" indent="0" algn="just" defTabSz="914400" rtl="0" eaLnBrk="0" fontAlgn="base" latinLnBrk="0" hangingPunct="0">
              <a:lnSpc>
                <a:spcPct val="150000"/>
              </a:lnSpc>
              <a:spcBef>
                <a:spcPct val="0"/>
              </a:spcBef>
              <a:spcAft>
                <a:spcPct val="0"/>
              </a:spcAft>
              <a:buClrTx/>
              <a:buSzTx/>
              <a:buFontTx/>
              <a:buNone/>
              <a:tabLst/>
            </a:pPr>
            <a:endParaRPr lang="en-US" sz="1500" dirty="0">
              <a:solidFill>
                <a:schemeClr val="tx1"/>
              </a:solidFill>
              <a:latin typeface="+mj-lt"/>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500" i="0" u="none" strike="noStrike" cap="none" normalizeH="0" baseline="0" noProof="0" dirty="0">
                <a:ln>
                  <a:noFill/>
                </a:ln>
                <a:solidFill>
                  <a:schemeClr val="tx1"/>
                </a:solidFill>
                <a:effectLst/>
                <a:latin typeface="+mj-lt"/>
              </a:rPr>
              <a:t>The architecture dynamically toggled between QuickProp and RProp update rules to maximize convergence speed. The search results highlighted that while deeper networks reduced training error, they required significant L2 regularization to maintain generalization capability on the validation set.</a:t>
            </a:r>
          </a:p>
        </p:txBody>
      </p:sp>
    </p:spTree>
    <p:extLst>
      <p:ext uri="{BB962C8B-B14F-4D97-AF65-F5344CB8AC3E}">
        <p14:creationId xmlns:p14="http://schemas.microsoft.com/office/powerpoint/2010/main" val="31008526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12CCC638-AFDB-3A8F-2D71-D545CE1C8415}"/>
              </a:ext>
            </a:extLst>
          </p:cNvPr>
          <p:cNvSpPr>
            <a:spLocks noGrp="1"/>
          </p:cNvSpPr>
          <p:nvPr>
            <p:ph type="body" idx="1"/>
          </p:nvPr>
        </p:nvSpPr>
        <p:spPr>
          <a:xfrm>
            <a:off x="368849" y="0"/>
            <a:ext cx="8520600" cy="5143500"/>
          </a:xfrm>
        </p:spPr>
        <p:txBody>
          <a:bodyPr>
            <a:normAutofit/>
          </a:bodyPr>
          <a:lstStyle/>
          <a:p>
            <a:pPr marL="0" indent="0">
              <a:buNone/>
            </a:pPr>
            <a:endParaRPr lang="en-US" sz="1900" dirty="0">
              <a:solidFill>
                <a:schemeClr val="tx1"/>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sz="1900" dirty="0">
              <a:solidFill>
                <a:schemeClr val="tx1"/>
              </a:solidFill>
            </a:endParaRP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114300" indent="0">
              <a:buNone/>
            </a:pPr>
            <a:endParaRPr lang="en-US" dirty="0"/>
          </a:p>
          <a:p>
            <a:pPr marL="114300" indent="0">
              <a:buNone/>
            </a:pPr>
            <a:endParaRPr lang="en-US" dirty="0"/>
          </a:p>
          <a:p>
            <a:pPr marL="0" indent="0">
              <a:buNone/>
            </a:pPr>
            <a:endParaRPr lang="en-US" dirty="0">
              <a:solidFill>
                <a:schemeClr val="tx1"/>
              </a:solidFill>
            </a:endParaRPr>
          </a:p>
          <a:p>
            <a:pPr marL="0" indent="0">
              <a:buNone/>
            </a:pPr>
            <a:endParaRPr lang="en-US" sz="1600" dirty="0">
              <a:solidFill>
                <a:schemeClr val="tx1"/>
              </a:solidFill>
            </a:endParaRPr>
          </a:p>
          <a:p>
            <a:pPr marL="0" indent="0">
              <a:buNone/>
            </a:pPr>
            <a:endParaRPr lang="en-US" sz="1600" dirty="0">
              <a:solidFill>
                <a:schemeClr val="tx1"/>
              </a:solidFill>
            </a:endParaRPr>
          </a:p>
          <a:p>
            <a:pPr marL="0" indent="0">
              <a:buNone/>
            </a:pPr>
            <a:endParaRPr lang="en-US" sz="1600" dirty="0">
              <a:solidFill>
                <a:schemeClr val="tx1"/>
              </a:solidFill>
            </a:endParaRPr>
          </a:p>
          <a:p>
            <a:pPr marL="0" indent="0">
              <a:buNone/>
            </a:pPr>
            <a:endParaRPr lang="en-US" sz="1600" dirty="0">
              <a:solidFill>
                <a:schemeClr val="tx1"/>
              </a:solidFill>
            </a:endParaRPr>
          </a:p>
          <a:p>
            <a:pPr marL="0" indent="0">
              <a:buNone/>
            </a:pPr>
            <a:endParaRPr lang="en-US" dirty="0"/>
          </a:p>
        </p:txBody>
      </p:sp>
      <p:sp>
        <p:nvSpPr>
          <p:cNvPr id="4" name="Segnaposto numero diapositiva 3">
            <a:extLst>
              <a:ext uri="{FF2B5EF4-FFF2-40B4-BE49-F238E27FC236}">
                <a16:creationId xmlns:a16="http://schemas.microsoft.com/office/drawing/2014/main" id="{6230137A-74D5-2F0F-C254-DF7F73746A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9</a:t>
            </a:fld>
            <a:endParaRPr lang="it-IT"/>
          </a:p>
        </p:txBody>
      </p:sp>
      <p:graphicFrame>
        <p:nvGraphicFramePr>
          <p:cNvPr id="5" name="Tabella 4">
            <a:extLst>
              <a:ext uri="{FF2B5EF4-FFF2-40B4-BE49-F238E27FC236}">
                <a16:creationId xmlns:a16="http://schemas.microsoft.com/office/drawing/2014/main" id="{3E6DC694-4D2D-EB78-0A9F-6BC4D06FD926}"/>
              </a:ext>
            </a:extLst>
          </p:cNvPr>
          <p:cNvGraphicFramePr>
            <a:graphicFrameLocks noGrp="1"/>
          </p:cNvGraphicFramePr>
          <p:nvPr>
            <p:extLst>
              <p:ext uri="{D42A27DB-BD31-4B8C-83A1-F6EECF244321}">
                <p14:modId xmlns:p14="http://schemas.microsoft.com/office/powerpoint/2010/main" val="630937450"/>
              </p:ext>
            </p:extLst>
          </p:nvPr>
        </p:nvGraphicFramePr>
        <p:xfrm>
          <a:off x="425999" y="199390"/>
          <a:ext cx="8406300" cy="2372360"/>
        </p:xfrm>
        <a:graphic>
          <a:graphicData uri="http://schemas.openxmlformats.org/drawingml/2006/table">
            <a:tbl>
              <a:tblPr firstRow="1" bandRow="1">
                <a:tableStyleId>{5940675A-B579-460E-94D1-54222C63F5DA}</a:tableStyleId>
              </a:tblPr>
              <a:tblGrid>
                <a:gridCol w="1401050">
                  <a:extLst>
                    <a:ext uri="{9D8B030D-6E8A-4147-A177-3AD203B41FA5}">
                      <a16:colId xmlns:a16="http://schemas.microsoft.com/office/drawing/2014/main" val="3283608396"/>
                    </a:ext>
                  </a:extLst>
                </a:gridCol>
                <a:gridCol w="1401050">
                  <a:extLst>
                    <a:ext uri="{9D8B030D-6E8A-4147-A177-3AD203B41FA5}">
                      <a16:colId xmlns:a16="http://schemas.microsoft.com/office/drawing/2014/main" val="2405051914"/>
                    </a:ext>
                  </a:extLst>
                </a:gridCol>
                <a:gridCol w="1401050">
                  <a:extLst>
                    <a:ext uri="{9D8B030D-6E8A-4147-A177-3AD203B41FA5}">
                      <a16:colId xmlns:a16="http://schemas.microsoft.com/office/drawing/2014/main" val="1870209944"/>
                    </a:ext>
                  </a:extLst>
                </a:gridCol>
                <a:gridCol w="1401050">
                  <a:extLst>
                    <a:ext uri="{9D8B030D-6E8A-4147-A177-3AD203B41FA5}">
                      <a16:colId xmlns:a16="http://schemas.microsoft.com/office/drawing/2014/main" val="2427314092"/>
                    </a:ext>
                  </a:extLst>
                </a:gridCol>
                <a:gridCol w="1401050">
                  <a:extLst>
                    <a:ext uri="{9D8B030D-6E8A-4147-A177-3AD203B41FA5}">
                      <a16:colId xmlns:a16="http://schemas.microsoft.com/office/drawing/2014/main" val="2960704990"/>
                    </a:ext>
                  </a:extLst>
                </a:gridCol>
                <a:gridCol w="1401050">
                  <a:extLst>
                    <a:ext uri="{9D8B030D-6E8A-4147-A177-3AD203B41FA5}">
                      <a16:colId xmlns:a16="http://schemas.microsoft.com/office/drawing/2014/main" val="965229394"/>
                    </a:ext>
                  </a:extLst>
                </a:gridCol>
              </a:tblGrid>
              <a:tr h="370840">
                <a:tc gridSpan="6">
                  <a:txBody>
                    <a:bodyPr/>
                    <a:lstStyle/>
                    <a:p>
                      <a:pPr algn="ctr"/>
                      <a:r>
                        <a:rPr lang="en-US" b="1" dirty="0"/>
                        <a:t>SEARCH SPACE</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extLst>
                  <a:ext uri="{0D108BD9-81ED-4DB2-BD59-A6C34878D82A}">
                    <a16:rowId xmlns:a16="http://schemas.microsoft.com/office/drawing/2014/main" val="1208807482"/>
                  </a:ext>
                </a:extLst>
              </a:tr>
              <a:tr h="370840">
                <a:tc>
                  <a:txBody>
                    <a:bodyPr/>
                    <a:lstStyle/>
                    <a:p>
                      <a:pPr algn="ctr"/>
                      <a:r>
                        <a:rPr lang="en-US" dirty="0"/>
                        <a:t>Learning rate</a:t>
                      </a:r>
                    </a:p>
                  </a:txBody>
                  <a:tcPr anchor="ctr"/>
                </a:tc>
                <a:tc>
                  <a:txBody>
                    <a:bodyPr/>
                    <a:lstStyle/>
                    <a:p>
                      <a:pPr algn="ctr"/>
                      <a:r>
                        <a:rPr lang="en-US" dirty="0"/>
                        <a:t>Patience</a:t>
                      </a:r>
                    </a:p>
                  </a:txBody>
                  <a:tcPr anchor="ctr"/>
                </a:tc>
                <a:tc>
                  <a:txBody>
                    <a:bodyPr/>
                    <a:lstStyle/>
                    <a:p>
                      <a:pPr algn="ctr"/>
                      <a:r>
                        <a:rPr lang="en-US" dirty="0"/>
                        <a:t>Tolerance</a:t>
                      </a:r>
                    </a:p>
                  </a:txBody>
                  <a:tcPr anchor="ctr"/>
                </a:tc>
                <a:tc>
                  <a:txBody>
                    <a:bodyPr/>
                    <a:lstStyle/>
                    <a:p>
                      <a:pPr algn="ctr"/>
                      <a:r>
                        <a:rPr lang="en-US" dirty="0"/>
                        <a:t>Max hidden units</a:t>
                      </a:r>
                    </a:p>
                  </a:txBody>
                  <a:tcPr anchor="ctr"/>
                </a:tc>
                <a:tc>
                  <a:txBody>
                    <a:bodyPr/>
                    <a:lstStyle/>
                    <a:p>
                      <a:pPr algn="ctr"/>
                      <a:r>
                        <a:rPr lang="en-US" dirty="0"/>
                        <a:t>Algorithm</a:t>
                      </a:r>
                    </a:p>
                  </a:txBody>
                  <a:tcPr anchor="ctr"/>
                </a:tc>
                <a:tc>
                  <a:txBody>
                    <a:bodyPr/>
                    <a:lstStyle/>
                    <a:p>
                      <a:pPr algn="ctr"/>
                      <a:r>
                        <a:rPr lang="en-US" dirty="0"/>
                        <a:t>Epochs</a:t>
                      </a:r>
                    </a:p>
                  </a:txBody>
                  <a:tcPr anchor="ctr"/>
                </a:tc>
                <a:extLst>
                  <a:ext uri="{0D108BD9-81ED-4DB2-BD59-A6C34878D82A}">
                    <a16:rowId xmlns:a16="http://schemas.microsoft.com/office/drawing/2014/main" val="3090668562"/>
                  </a:ext>
                </a:extLst>
              </a:tr>
              <a:tr h="370840">
                <a:tc>
                  <a:txBody>
                    <a:bodyPr/>
                    <a:lstStyle/>
                    <a:p>
                      <a:pPr algn="ctr"/>
                      <a:r>
                        <a:rPr lang="en-US" dirty="0"/>
                        <a:t>0.001</a:t>
                      </a:r>
                    </a:p>
                  </a:txBody>
                  <a:tcPr anchor="ctr"/>
                </a:tc>
                <a:tc rowSpan="2">
                  <a:txBody>
                    <a:bodyPr/>
                    <a:lstStyle/>
                    <a:p>
                      <a:pPr algn="ctr"/>
                      <a:r>
                        <a:rPr lang="en-US" dirty="0"/>
                        <a:t>50</a:t>
                      </a:r>
                    </a:p>
                  </a:txBody>
                  <a:tcPr anchor="ctr"/>
                </a:tc>
                <a:tc rowSpan="2">
                  <a:txBody>
                    <a:bodyPr/>
                    <a:lstStyle/>
                    <a:p>
                      <a:pPr algn="ctr"/>
                      <a:r>
                        <a:rPr lang="en-US" dirty="0"/>
                        <a:t>0.001</a:t>
                      </a:r>
                    </a:p>
                  </a:txBody>
                  <a:tcPr anchor="ctr"/>
                </a:tc>
                <a:tc rowSpan="4">
                  <a:txBody>
                    <a:bodyPr/>
                    <a:lstStyle/>
                    <a:p>
                      <a:pPr algn="ctr"/>
                      <a:r>
                        <a:rPr lang="en-US" dirty="0"/>
                        <a:t>20</a:t>
                      </a:r>
                    </a:p>
                  </a:txBody>
                  <a:tcPr anchor="ctr"/>
                </a:tc>
                <a:tc rowSpan="2">
                  <a:txBody>
                    <a:bodyPr/>
                    <a:lstStyle/>
                    <a:p>
                      <a:pPr algn="ctr"/>
                      <a:r>
                        <a:rPr lang="en-US" dirty="0"/>
                        <a:t>QuickProp</a:t>
                      </a:r>
                    </a:p>
                  </a:txBody>
                  <a:tcPr anchor="ctr"/>
                </a:tc>
                <a:tc rowSpan="4">
                  <a:txBody>
                    <a:bodyPr/>
                    <a:lstStyle/>
                    <a:p>
                      <a:pPr algn="ctr"/>
                      <a:r>
                        <a:rPr lang="en-US" dirty="0"/>
                        <a:t>2000</a:t>
                      </a:r>
                    </a:p>
                  </a:txBody>
                  <a:tcPr anchor="ctr"/>
                </a:tc>
                <a:extLst>
                  <a:ext uri="{0D108BD9-81ED-4DB2-BD59-A6C34878D82A}">
                    <a16:rowId xmlns:a16="http://schemas.microsoft.com/office/drawing/2014/main" val="910198380"/>
                  </a:ext>
                </a:extLst>
              </a:tr>
              <a:tr h="370840">
                <a:tc>
                  <a:txBody>
                    <a:bodyPr/>
                    <a:lstStyle/>
                    <a:p>
                      <a:pPr algn="ctr"/>
                      <a:r>
                        <a:rPr lang="en-US" dirty="0"/>
                        <a:t>0.005</a:t>
                      </a:r>
                    </a:p>
                  </a:txBody>
                  <a:tcPr anchor="ctr"/>
                </a:tc>
                <a:tc vMerge="1">
                  <a:txBody>
                    <a:bodyPr/>
                    <a:lstStyle/>
                    <a:p>
                      <a:pPr algn="ctr"/>
                      <a:endParaRPr lang="en-US" dirty="0"/>
                    </a:p>
                  </a:txBody>
                  <a:tcPr anchor="ctr"/>
                </a:tc>
                <a:tc vMerge="1">
                  <a:txBody>
                    <a:bodyPr/>
                    <a:lstStyle/>
                    <a:p>
                      <a:pPr algn="ctr"/>
                      <a:endParaRPr lang="en-US" dirty="0"/>
                    </a:p>
                  </a:txBody>
                  <a:tcPr anchor="ctr"/>
                </a:tc>
                <a:tc vMerge="1">
                  <a:txBody>
                    <a:bodyPr/>
                    <a:lstStyle/>
                    <a:p>
                      <a:pPr algn="ctr"/>
                      <a:endParaRPr lang="en-US" dirty="0"/>
                    </a:p>
                  </a:txBody>
                  <a:tcPr anchor="ctr"/>
                </a:tc>
                <a:tc vMerge="1">
                  <a:txBody>
                    <a:bodyPr/>
                    <a:lstStyle/>
                    <a:p>
                      <a:pPr algn="ctr"/>
                      <a:endParaRPr lang="en-US" dirty="0"/>
                    </a:p>
                  </a:txBody>
                  <a:tcPr anchor="ctr"/>
                </a:tc>
                <a:tc vMerge="1">
                  <a:txBody>
                    <a:bodyPr/>
                    <a:lstStyle/>
                    <a:p>
                      <a:pPr algn="ctr"/>
                      <a:endParaRPr lang="en-US" dirty="0"/>
                    </a:p>
                  </a:txBody>
                  <a:tcPr anchor="ctr"/>
                </a:tc>
                <a:extLst>
                  <a:ext uri="{0D108BD9-81ED-4DB2-BD59-A6C34878D82A}">
                    <a16:rowId xmlns:a16="http://schemas.microsoft.com/office/drawing/2014/main" val="1922478638"/>
                  </a:ext>
                </a:extLst>
              </a:tr>
              <a:tr h="370840">
                <a:tc>
                  <a:txBody>
                    <a:bodyPr/>
                    <a:lstStyle/>
                    <a:p>
                      <a:pPr algn="ctr"/>
                      <a:r>
                        <a:rPr lang="en-US" dirty="0"/>
                        <a:t>0.01</a:t>
                      </a:r>
                    </a:p>
                  </a:txBody>
                  <a:tcPr anchor="ctr"/>
                </a:tc>
                <a:tc rowSpan="2">
                  <a:txBody>
                    <a:bodyPr/>
                    <a:lstStyle/>
                    <a:p>
                      <a:pPr algn="ctr"/>
                      <a:r>
                        <a:rPr lang="en-US" dirty="0"/>
                        <a:t>80</a:t>
                      </a:r>
                    </a:p>
                  </a:txBody>
                  <a:tcPr anchor="ctr"/>
                </a:tc>
                <a:tc rowSpan="2">
                  <a:txBody>
                    <a:bodyPr/>
                    <a:lstStyle/>
                    <a:p>
                      <a:pPr algn="ctr"/>
                      <a:r>
                        <a:rPr lang="en-US" dirty="0"/>
                        <a:t>0.0001</a:t>
                      </a:r>
                    </a:p>
                  </a:txBody>
                  <a:tcPr anchor="ctr"/>
                </a:tc>
                <a:tc vMerge="1">
                  <a:txBody>
                    <a:bodyPr/>
                    <a:lstStyle/>
                    <a:p>
                      <a:pPr algn="ctr"/>
                      <a:endParaRPr lang="en-US" dirty="0"/>
                    </a:p>
                  </a:txBody>
                  <a:tcPr anchor="ctr"/>
                </a:tc>
                <a:tc rowSpan="2">
                  <a:txBody>
                    <a:bodyPr/>
                    <a:lstStyle/>
                    <a:p>
                      <a:pPr algn="ctr"/>
                      <a:r>
                        <a:rPr lang="en-US" dirty="0"/>
                        <a:t>Rprop</a:t>
                      </a:r>
                    </a:p>
                  </a:txBody>
                  <a:tcPr anchor="ctr"/>
                </a:tc>
                <a:tc vMerge="1">
                  <a:txBody>
                    <a:bodyPr/>
                    <a:lstStyle/>
                    <a:p>
                      <a:pPr algn="ctr"/>
                      <a:endParaRPr lang="en-US" dirty="0"/>
                    </a:p>
                  </a:txBody>
                  <a:tcPr anchor="ctr"/>
                </a:tc>
                <a:extLst>
                  <a:ext uri="{0D108BD9-81ED-4DB2-BD59-A6C34878D82A}">
                    <a16:rowId xmlns:a16="http://schemas.microsoft.com/office/drawing/2014/main" val="3184222962"/>
                  </a:ext>
                </a:extLst>
              </a:tr>
              <a:tr h="370840">
                <a:tc>
                  <a:txBody>
                    <a:bodyPr/>
                    <a:lstStyle/>
                    <a:p>
                      <a:pPr algn="ctr"/>
                      <a:r>
                        <a:rPr lang="en-US" dirty="0"/>
                        <a:t>0.05</a:t>
                      </a:r>
                    </a:p>
                  </a:txBody>
                  <a:tcPr anchor="ctr"/>
                </a:tc>
                <a:tc vMerge="1">
                  <a:txBody>
                    <a:bodyPr/>
                    <a:lstStyle/>
                    <a:p>
                      <a:pPr algn="ctr"/>
                      <a:endParaRPr lang="en-US" dirty="0"/>
                    </a:p>
                  </a:txBody>
                  <a:tcPr anchor="ctr"/>
                </a:tc>
                <a:tc vMerge="1">
                  <a:txBody>
                    <a:bodyPr/>
                    <a:lstStyle/>
                    <a:p>
                      <a:pPr algn="ctr"/>
                      <a:endParaRPr lang="en-US" dirty="0"/>
                    </a:p>
                  </a:txBody>
                  <a:tcPr anchor="ctr"/>
                </a:tc>
                <a:tc vMerge="1">
                  <a:txBody>
                    <a:bodyPr/>
                    <a:lstStyle/>
                    <a:p>
                      <a:pPr algn="ctr"/>
                      <a:endParaRPr lang="en-US" dirty="0"/>
                    </a:p>
                  </a:txBody>
                  <a:tcPr anchor="ctr"/>
                </a:tc>
                <a:tc vMerge="1">
                  <a:txBody>
                    <a:bodyPr/>
                    <a:lstStyle/>
                    <a:p>
                      <a:pPr algn="ctr"/>
                      <a:endParaRPr lang="en-US" dirty="0"/>
                    </a:p>
                  </a:txBody>
                  <a:tcPr anchor="ctr"/>
                </a:tc>
                <a:tc vMerge="1">
                  <a:txBody>
                    <a:bodyPr/>
                    <a:lstStyle/>
                    <a:p>
                      <a:pPr algn="ctr"/>
                      <a:endParaRPr lang="en-US" dirty="0"/>
                    </a:p>
                  </a:txBody>
                  <a:tcPr anchor="ctr"/>
                </a:tc>
                <a:extLst>
                  <a:ext uri="{0D108BD9-81ED-4DB2-BD59-A6C34878D82A}">
                    <a16:rowId xmlns:a16="http://schemas.microsoft.com/office/drawing/2014/main" val="2834690966"/>
                  </a:ext>
                </a:extLst>
              </a:tr>
            </a:tbl>
          </a:graphicData>
        </a:graphic>
      </p:graphicFrame>
      <p:graphicFrame>
        <p:nvGraphicFramePr>
          <p:cNvPr id="6" name="Tabella 5">
            <a:extLst>
              <a:ext uri="{FF2B5EF4-FFF2-40B4-BE49-F238E27FC236}">
                <a16:creationId xmlns:a16="http://schemas.microsoft.com/office/drawing/2014/main" id="{652B68C3-A6B2-6820-8722-C72610846B94}"/>
              </a:ext>
            </a:extLst>
          </p:cNvPr>
          <p:cNvGraphicFramePr>
            <a:graphicFrameLocks noGrp="1"/>
          </p:cNvGraphicFramePr>
          <p:nvPr>
            <p:extLst>
              <p:ext uri="{D42A27DB-BD31-4B8C-83A1-F6EECF244321}">
                <p14:modId xmlns:p14="http://schemas.microsoft.com/office/powerpoint/2010/main" val="2965637839"/>
              </p:ext>
            </p:extLst>
          </p:nvPr>
        </p:nvGraphicFramePr>
        <p:xfrm>
          <a:off x="425999" y="2930525"/>
          <a:ext cx="8406300" cy="1854200"/>
        </p:xfrm>
        <a:graphic>
          <a:graphicData uri="http://schemas.openxmlformats.org/drawingml/2006/table">
            <a:tbl>
              <a:tblPr firstRow="1" bandRow="1">
                <a:tableStyleId>{5940675A-B579-460E-94D1-54222C63F5DA}</a:tableStyleId>
              </a:tblPr>
              <a:tblGrid>
                <a:gridCol w="1401050">
                  <a:extLst>
                    <a:ext uri="{9D8B030D-6E8A-4147-A177-3AD203B41FA5}">
                      <a16:colId xmlns:a16="http://schemas.microsoft.com/office/drawing/2014/main" val="3632176112"/>
                    </a:ext>
                  </a:extLst>
                </a:gridCol>
                <a:gridCol w="1401050">
                  <a:extLst>
                    <a:ext uri="{9D8B030D-6E8A-4147-A177-3AD203B41FA5}">
                      <a16:colId xmlns:a16="http://schemas.microsoft.com/office/drawing/2014/main" val="4112545057"/>
                    </a:ext>
                  </a:extLst>
                </a:gridCol>
                <a:gridCol w="1401050">
                  <a:extLst>
                    <a:ext uri="{9D8B030D-6E8A-4147-A177-3AD203B41FA5}">
                      <a16:colId xmlns:a16="http://schemas.microsoft.com/office/drawing/2014/main" val="1484736289"/>
                    </a:ext>
                  </a:extLst>
                </a:gridCol>
                <a:gridCol w="1401050">
                  <a:extLst>
                    <a:ext uri="{9D8B030D-6E8A-4147-A177-3AD203B41FA5}">
                      <a16:colId xmlns:a16="http://schemas.microsoft.com/office/drawing/2014/main" val="1714531652"/>
                    </a:ext>
                  </a:extLst>
                </a:gridCol>
                <a:gridCol w="1401050">
                  <a:extLst>
                    <a:ext uri="{9D8B030D-6E8A-4147-A177-3AD203B41FA5}">
                      <a16:colId xmlns:a16="http://schemas.microsoft.com/office/drawing/2014/main" val="568782864"/>
                    </a:ext>
                  </a:extLst>
                </a:gridCol>
                <a:gridCol w="1401050">
                  <a:extLst>
                    <a:ext uri="{9D8B030D-6E8A-4147-A177-3AD203B41FA5}">
                      <a16:colId xmlns:a16="http://schemas.microsoft.com/office/drawing/2014/main" val="1911850924"/>
                    </a:ext>
                  </a:extLst>
                </a:gridCol>
              </a:tblGrid>
              <a:tr h="370840">
                <a:tc gridSpan="6">
                  <a:txBody>
                    <a:bodyPr/>
                    <a:lstStyle/>
                    <a:p>
                      <a:pPr algn="ctr"/>
                      <a:r>
                        <a:rPr lang="en-US" b="1" dirty="0"/>
                        <a:t>BEST CONFIGURATIONS FOUND</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extLst>
                  <a:ext uri="{0D108BD9-81ED-4DB2-BD59-A6C34878D82A}">
                    <a16:rowId xmlns:a16="http://schemas.microsoft.com/office/drawing/2014/main" val="3231372567"/>
                  </a:ext>
                </a:extLst>
              </a:tr>
              <a:tr h="370840">
                <a:tc>
                  <a:txBody>
                    <a:bodyPr/>
                    <a:lstStyle/>
                    <a:p>
                      <a:pPr algn="ctr"/>
                      <a:r>
                        <a:rPr lang="en-US" dirty="0"/>
                        <a:t>Rank</a:t>
                      </a:r>
                    </a:p>
                  </a:txBody>
                  <a:tcPr anchor="ctr"/>
                </a:tc>
                <a:tc>
                  <a:txBody>
                    <a:bodyPr/>
                    <a:lstStyle/>
                    <a:p>
                      <a:pPr algn="ctr"/>
                      <a:r>
                        <a:rPr lang="en-US" dirty="0"/>
                        <a:t>Algorithm</a:t>
                      </a:r>
                    </a:p>
                  </a:txBody>
                  <a:tcPr anchor="ctr"/>
                </a:tc>
                <a:tc>
                  <a:txBody>
                    <a:bodyPr/>
                    <a:lstStyle/>
                    <a:p>
                      <a:pPr algn="ctr"/>
                      <a:r>
                        <a:rPr lang="en-US" dirty="0"/>
                        <a:t>Hidden units</a:t>
                      </a:r>
                    </a:p>
                  </a:txBody>
                  <a:tcPr anchor="ctr"/>
                </a:tc>
                <a:tc>
                  <a:txBody>
                    <a:bodyPr/>
                    <a:lstStyle/>
                    <a:p>
                      <a:pPr algn="ctr"/>
                      <a:r>
                        <a:rPr lang="en-US" dirty="0"/>
                        <a:t>TR MEE</a:t>
                      </a:r>
                    </a:p>
                  </a:txBody>
                  <a:tcPr anchor="ctr"/>
                </a:tc>
                <a:tc>
                  <a:txBody>
                    <a:bodyPr/>
                    <a:lstStyle/>
                    <a:p>
                      <a:pPr algn="ctr"/>
                      <a:r>
                        <a:rPr lang="en-US" dirty="0"/>
                        <a:t>VL MEE </a:t>
                      </a:r>
                    </a:p>
                  </a:txBody>
                  <a:tcPr anchor="ctr"/>
                </a:tc>
                <a:tc>
                  <a:txBody>
                    <a:bodyPr/>
                    <a:lstStyle/>
                    <a:p>
                      <a:pPr algn="ctr"/>
                      <a:r>
                        <a:rPr lang="en-US" dirty="0"/>
                        <a:t>TS MEE</a:t>
                      </a:r>
                    </a:p>
                  </a:txBody>
                  <a:tcPr anchor="ctr"/>
                </a:tc>
                <a:extLst>
                  <a:ext uri="{0D108BD9-81ED-4DB2-BD59-A6C34878D82A}">
                    <a16:rowId xmlns:a16="http://schemas.microsoft.com/office/drawing/2014/main" val="4092239329"/>
                  </a:ext>
                </a:extLst>
              </a:tr>
              <a:tr h="370840">
                <a:tc>
                  <a:txBody>
                    <a:bodyPr/>
                    <a:lstStyle/>
                    <a:p>
                      <a:pPr algn="ctr"/>
                      <a:r>
                        <a:rPr lang="en-US" dirty="0"/>
                        <a:t>1</a:t>
                      </a:r>
                    </a:p>
                  </a:txBody>
                  <a:tcPr anchor="ctr"/>
                </a:tc>
                <a:tc>
                  <a:txBody>
                    <a:bodyPr/>
                    <a:lstStyle/>
                    <a:p>
                      <a:pPr algn="ctr"/>
                      <a:r>
                        <a:rPr lang="en-US" dirty="0"/>
                        <a:t>QuickProp</a:t>
                      </a:r>
                    </a:p>
                  </a:txBody>
                  <a:tcPr anchor="ctr"/>
                </a:tc>
                <a:tc>
                  <a:txBody>
                    <a:bodyPr/>
                    <a:lstStyle/>
                    <a:p>
                      <a:pPr algn="ctr"/>
                      <a:r>
                        <a:rPr lang="en-US" dirty="0"/>
                        <a:t>20</a:t>
                      </a:r>
                    </a:p>
                  </a:txBody>
                  <a:tcPr anchor="ctr"/>
                </a:tc>
                <a:tc>
                  <a:txBody>
                    <a:bodyPr/>
                    <a:lstStyle/>
                    <a:p>
                      <a:pPr algn="ctr"/>
                      <a:r>
                        <a:rPr lang="en-US" dirty="0"/>
                        <a:t>16.782978</a:t>
                      </a:r>
                    </a:p>
                  </a:txBody>
                  <a:tcPr anchor="ctr"/>
                </a:tc>
                <a:tc>
                  <a:txBody>
                    <a:bodyPr/>
                    <a:lstStyle/>
                    <a:p>
                      <a:pPr algn="ctr"/>
                      <a:r>
                        <a:rPr lang="en-US" dirty="0"/>
                        <a:t>23.525320</a:t>
                      </a:r>
                    </a:p>
                  </a:txBody>
                  <a:tcPr anchor="ctr"/>
                </a:tc>
                <a:tc>
                  <a:txBody>
                    <a:bodyPr/>
                    <a:lstStyle/>
                    <a:p>
                      <a:pPr algn="ctr"/>
                      <a:r>
                        <a:rPr lang="en-US" dirty="0"/>
                        <a:t>24.716925</a:t>
                      </a:r>
                    </a:p>
                  </a:txBody>
                  <a:tcPr anchor="ctr"/>
                </a:tc>
                <a:extLst>
                  <a:ext uri="{0D108BD9-81ED-4DB2-BD59-A6C34878D82A}">
                    <a16:rowId xmlns:a16="http://schemas.microsoft.com/office/drawing/2014/main" val="1589679147"/>
                  </a:ext>
                </a:extLst>
              </a:tr>
              <a:tr h="370840">
                <a:tc>
                  <a:txBody>
                    <a:bodyPr/>
                    <a:lstStyle/>
                    <a:p>
                      <a:pPr algn="ctr"/>
                      <a:r>
                        <a:rPr lang="en-US" dirty="0"/>
                        <a:t>2</a:t>
                      </a:r>
                    </a:p>
                  </a:txBody>
                  <a:tcPr anchor="ctr"/>
                </a:tc>
                <a:tc>
                  <a:txBody>
                    <a:bodyPr/>
                    <a:lstStyle/>
                    <a:p>
                      <a:pPr algn="ctr"/>
                      <a:r>
                        <a:rPr lang="en-US" dirty="0"/>
                        <a:t>QuickProp</a:t>
                      </a:r>
                    </a:p>
                  </a:txBody>
                  <a:tcPr anchor="ctr"/>
                </a:tc>
                <a:tc>
                  <a:txBody>
                    <a:bodyPr/>
                    <a:lstStyle/>
                    <a:p>
                      <a:pPr algn="ctr"/>
                      <a:r>
                        <a:rPr lang="en-US" dirty="0"/>
                        <a:t>20</a:t>
                      </a:r>
                    </a:p>
                  </a:txBody>
                  <a:tcPr anchor="ctr"/>
                </a:tc>
                <a:tc>
                  <a:txBody>
                    <a:bodyPr/>
                    <a:lstStyle/>
                    <a:p>
                      <a:pPr algn="ctr"/>
                      <a:r>
                        <a:rPr lang="en-US" dirty="0"/>
                        <a:t>92.172781</a:t>
                      </a:r>
                    </a:p>
                  </a:txBody>
                  <a:tcPr anchor="ctr"/>
                </a:tc>
                <a:tc>
                  <a:txBody>
                    <a:bodyPr/>
                    <a:lstStyle/>
                    <a:p>
                      <a:pPr algn="ctr"/>
                      <a:r>
                        <a:rPr lang="en-US" dirty="0"/>
                        <a:t>90.402928</a:t>
                      </a:r>
                    </a:p>
                  </a:txBody>
                  <a:tcPr anchor="ctr"/>
                </a:tc>
                <a:tc>
                  <a:txBody>
                    <a:bodyPr/>
                    <a:lstStyle/>
                    <a:p>
                      <a:pPr algn="ctr"/>
                      <a:r>
                        <a:rPr lang="en-US" dirty="0"/>
                        <a:t>90.296196</a:t>
                      </a:r>
                    </a:p>
                  </a:txBody>
                  <a:tcPr anchor="ctr"/>
                </a:tc>
                <a:extLst>
                  <a:ext uri="{0D108BD9-81ED-4DB2-BD59-A6C34878D82A}">
                    <a16:rowId xmlns:a16="http://schemas.microsoft.com/office/drawing/2014/main" val="1347335817"/>
                  </a:ext>
                </a:extLst>
              </a:tr>
              <a:tr h="370840">
                <a:tc>
                  <a:txBody>
                    <a:bodyPr/>
                    <a:lstStyle/>
                    <a:p>
                      <a:pPr algn="ctr"/>
                      <a:r>
                        <a:rPr lang="en-US" dirty="0"/>
                        <a:t>3</a:t>
                      </a:r>
                    </a:p>
                  </a:txBody>
                  <a:tcPr anchor="ctr"/>
                </a:tc>
                <a:tc>
                  <a:txBody>
                    <a:bodyPr/>
                    <a:lstStyle/>
                    <a:p>
                      <a:pPr algn="ctr"/>
                      <a:r>
                        <a:rPr lang="en-US" dirty="0"/>
                        <a:t>QuickProp</a:t>
                      </a:r>
                    </a:p>
                  </a:txBody>
                  <a:tcPr anchor="ctr"/>
                </a:tc>
                <a:tc>
                  <a:txBody>
                    <a:bodyPr/>
                    <a:lstStyle/>
                    <a:p>
                      <a:pPr algn="ctr"/>
                      <a:r>
                        <a:rPr lang="en-US" dirty="0"/>
                        <a:t>20</a:t>
                      </a:r>
                    </a:p>
                  </a:txBody>
                  <a:tcPr anchor="ctr"/>
                </a:tc>
                <a:tc>
                  <a:txBody>
                    <a:bodyPr/>
                    <a:lstStyle/>
                    <a:p>
                      <a:pPr algn="ctr"/>
                      <a:r>
                        <a:rPr lang="en-US" dirty="0"/>
                        <a:t>92.134299</a:t>
                      </a:r>
                    </a:p>
                  </a:txBody>
                  <a:tcPr anchor="ctr"/>
                </a:tc>
                <a:tc>
                  <a:txBody>
                    <a:bodyPr/>
                    <a:lstStyle/>
                    <a:p>
                      <a:pPr algn="ctr"/>
                      <a:r>
                        <a:rPr lang="en-US" dirty="0"/>
                        <a:t>90.756010</a:t>
                      </a:r>
                    </a:p>
                  </a:txBody>
                  <a:tcPr anchor="ctr"/>
                </a:tc>
                <a:tc>
                  <a:txBody>
                    <a:bodyPr/>
                    <a:lstStyle/>
                    <a:p>
                      <a:pPr algn="ctr"/>
                      <a:r>
                        <a:rPr lang="en-US" dirty="0"/>
                        <a:t>90.923462</a:t>
                      </a:r>
                    </a:p>
                  </a:txBody>
                  <a:tcPr anchor="ctr"/>
                </a:tc>
                <a:extLst>
                  <a:ext uri="{0D108BD9-81ED-4DB2-BD59-A6C34878D82A}">
                    <a16:rowId xmlns:a16="http://schemas.microsoft.com/office/drawing/2014/main" val="2227855298"/>
                  </a:ext>
                </a:extLst>
              </a:tr>
            </a:tbl>
          </a:graphicData>
        </a:graphic>
      </p:graphicFrame>
      <p:sp>
        <p:nvSpPr>
          <p:cNvPr id="2" name="CasellaDiTesto 1">
            <a:extLst>
              <a:ext uri="{FF2B5EF4-FFF2-40B4-BE49-F238E27FC236}">
                <a16:creationId xmlns:a16="http://schemas.microsoft.com/office/drawing/2014/main" id="{8405CE64-8692-5348-1DE2-B8B7939DA893}"/>
              </a:ext>
            </a:extLst>
          </p:cNvPr>
          <p:cNvSpPr txBox="1"/>
          <p:nvPr/>
        </p:nvSpPr>
        <p:spPr>
          <a:xfrm>
            <a:off x="425999" y="2571750"/>
            <a:ext cx="8406300" cy="307777"/>
          </a:xfrm>
          <a:prstGeom prst="rect">
            <a:avLst/>
          </a:prstGeom>
          <a:noFill/>
        </p:spPr>
        <p:txBody>
          <a:bodyPr wrap="square" rtlCol="0">
            <a:spAutoFit/>
          </a:bodyPr>
          <a:lstStyle/>
          <a:p>
            <a:pPr algn="ctr"/>
            <a:r>
              <a:rPr lang="en-US" b="1" dirty="0"/>
              <a:t>Table 1. </a:t>
            </a:r>
            <a:r>
              <a:rPr lang="en-US" dirty="0"/>
              <a:t>Parameters set in the grid search for multi-output regression task.</a:t>
            </a:r>
          </a:p>
        </p:txBody>
      </p:sp>
      <p:sp>
        <p:nvSpPr>
          <p:cNvPr id="7" name="CasellaDiTesto 6">
            <a:extLst>
              <a:ext uri="{FF2B5EF4-FFF2-40B4-BE49-F238E27FC236}">
                <a16:creationId xmlns:a16="http://schemas.microsoft.com/office/drawing/2014/main" id="{C9981B63-C1A9-8FC0-9596-7430D90E83C2}"/>
              </a:ext>
            </a:extLst>
          </p:cNvPr>
          <p:cNvSpPr txBox="1"/>
          <p:nvPr/>
        </p:nvSpPr>
        <p:spPr>
          <a:xfrm>
            <a:off x="425999" y="4784725"/>
            <a:ext cx="8463450" cy="307777"/>
          </a:xfrm>
          <a:prstGeom prst="rect">
            <a:avLst/>
          </a:prstGeom>
          <a:noFill/>
        </p:spPr>
        <p:txBody>
          <a:bodyPr wrap="square" rtlCol="0">
            <a:spAutoFit/>
          </a:bodyPr>
          <a:lstStyle/>
          <a:p>
            <a:pPr algn="ctr"/>
            <a:r>
              <a:rPr lang="en-US" b="1" dirty="0"/>
              <a:t>Table 2. </a:t>
            </a:r>
            <a:r>
              <a:rPr lang="en-US" dirty="0"/>
              <a:t>Ranking of the three best configurations found for CUP regression task. </a:t>
            </a:r>
          </a:p>
        </p:txBody>
      </p:sp>
    </p:spTree>
    <p:extLst>
      <p:ext uri="{BB962C8B-B14F-4D97-AF65-F5344CB8AC3E}">
        <p14:creationId xmlns:p14="http://schemas.microsoft.com/office/powerpoint/2010/main" val="3765704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E08CE05-6892-6D0B-882A-220532161536}"/>
              </a:ext>
            </a:extLst>
          </p:cNvPr>
          <p:cNvSpPr>
            <a:spLocks noGrp="1"/>
          </p:cNvSpPr>
          <p:nvPr>
            <p:ph type="title"/>
          </p:nvPr>
        </p:nvSpPr>
        <p:spPr/>
        <p:txBody>
          <a:bodyPr>
            <a:noAutofit/>
          </a:bodyPr>
          <a:lstStyle/>
          <a:p>
            <a:r>
              <a:rPr lang="en-US" sz="3000" b="1" dirty="0"/>
              <a:t>Final model selection</a:t>
            </a:r>
          </a:p>
        </p:txBody>
      </p:sp>
      <p:sp>
        <p:nvSpPr>
          <p:cNvPr id="3" name="Segnaposto testo 2">
            <a:extLst>
              <a:ext uri="{FF2B5EF4-FFF2-40B4-BE49-F238E27FC236}">
                <a16:creationId xmlns:a16="http://schemas.microsoft.com/office/drawing/2014/main" id="{E474515C-9092-9B6D-63CE-4FC65DCD3E41}"/>
              </a:ext>
            </a:extLst>
          </p:cNvPr>
          <p:cNvSpPr>
            <a:spLocks noGrp="1"/>
          </p:cNvSpPr>
          <p:nvPr>
            <p:ph type="body" idx="1"/>
          </p:nvPr>
        </p:nvSpPr>
        <p:spPr/>
        <p:txBody>
          <a:bodyPr>
            <a:noAutofit/>
          </a:bodyPr>
          <a:lstStyle/>
          <a:p>
            <a:pPr marL="114300" indent="0">
              <a:buNone/>
            </a:pPr>
            <a:r>
              <a:rPr lang="en-US" sz="1500" dirty="0">
                <a:solidFill>
                  <a:schemeClr val="tx1"/>
                </a:solidFill>
              </a:rPr>
              <a:t>Model selection was made through </a:t>
            </a:r>
            <a:r>
              <a:rPr lang="en-US" sz="1500" u="sng" dirty="0">
                <a:solidFill>
                  <a:schemeClr val="tx1"/>
                </a:solidFill>
              </a:rPr>
              <a:t>GRID SEARCH</a:t>
            </a:r>
            <a:r>
              <a:rPr lang="en-US" sz="1500" dirty="0">
                <a:solidFill>
                  <a:schemeClr val="tx1"/>
                </a:solidFill>
              </a:rPr>
              <a:t> which allowed for exhaustive exploration of learning rate, L2 regularization parameter, momentum and network architecture.</a:t>
            </a:r>
          </a:p>
          <a:p>
            <a:pPr marL="114300" indent="0">
              <a:buNone/>
            </a:pPr>
            <a:r>
              <a:rPr lang="en-US" sz="1500" u="sng" dirty="0">
                <a:solidFill>
                  <a:schemeClr val="tx1"/>
                </a:solidFill>
              </a:rPr>
              <a:t>Average validation performance was used for comparison.</a:t>
            </a:r>
          </a:p>
          <a:p>
            <a:pPr marL="114300" indent="0">
              <a:buNone/>
            </a:pPr>
            <a:endParaRPr lang="en-US" sz="1500" b="1" dirty="0">
              <a:solidFill>
                <a:schemeClr val="tx1"/>
              </a:solidFill>
            </a:endParaRPr>
          </a:p>
          <a:p>
            <a:pPr marL="114300" indent="0">
              <a:buNone/>
            </a:pPr>
            <a:r>
              <a:rPr lang="en-US" sz="1500" b="1" dirty="0">
                <a:solidFill>
                  <a:schemeClr val="tx1"/>
                </a:solidFill>
              </a:rPr>
              <a:t>SELECTION CRITERION</a:t>
            </a:r>
            <a:r>
              <a:rPr lang="en-US" sz="1500" dirty="0">
                <a:solidFill>
                  <a:schemeClr val="tx1"/>
                </a:solidFill>
              </a:rPr>
              <a:t>:</a:t>
            </a:r>
          </a:p>
          <a:p>
            <a:pPr marL="114300" indent="0">
              <a:buNone/>
            </a:pPr>
            <a:r>
              <a:rPr lang="en-US" sz="1500" dirty="0">
                <a:solidFill>
                  <a:schemeClr val="tx1"/>
                </a:solidFill>
              </a:rPr>
              <a:t>Lowest validation loss, stable learning curve and limited gap between training and validation error.</a:t>
            </a:r>
          </a:p>
          <a:p>
            <a:pPr marL="114300" indent="0">
              <a:buNone/>
            </a:pPr>
            <a:endParaRPr lang="en-US" sz="1500" dirty="0">
              <a:solidFill>
                <a:schemeClr val="tx1"/>
              </a:solidFill>
            </a:endParaRPr>
          </a:p>
          <a:p>
            <a:pPr marL="114300" indent="0">
              <a:buNone/>
            </a:pPr>
            <a:r>
              <a:rPr lang="en-US" sz="1500" b="1" dirty="0">
                <a:solidFill>
                  <a:schemeClr val="tx1"/>
                </a:solidFill>
              </a:rPr>
              <a:t>FINAL MODEL CHARACTERISTICS</a:t>
            </a:r>
            <a:r>
              <a:rPr lang="en-US" sz="1500" dirty="0">
                <a:solidFill>
                  <a:schemeClr val="tx1"/>
                </a:solidFill>
              </a:rPr>
              <a:t>:</a:t>
            </a:r>
          </a:p>
          <a:p>
            <a:pPr>
              <a:buClr>
                <a:schemeClr val="tx1"/>
              </a:buClr>
              <a:buFont typeface="Arial" panose="020B0604020202020204" pitchFamily="34" charset="0"/>
              <a:buChar char="•"/>
            </a:pPr>
            <a:r>
              <a:rPr lang="en-US" sz="1500" dirty="0">
                <a:solidFill>
                  <a:schemeClr val="tx1"/>
                </a:solidFill>
              </a:rPr>
              <a:t>Multi-layer architecture.</a:t>
            </a:r>
          </a:p>
          <a:p>
            <a:pPr>
              <a:buClr>
                <a:schemeClr val="tx1"/>
              </a:buClr>
              <a:buFont typeface="Arial" panose="020B0604020202020204" pitchFamily="34" charset="0"/>
              <a:buChar char="•"/>
            </a:pPr>
            <a:r>
              <a:rPr lang="en-US" sz="1500" dirty="0">
                <a:solidFill>
                  <a:schemeClr val="tx1"/>
                </a:solidFill>
              </a:rPr>
              <a:t>Tanh activation.</a:t>
            </a:r>
          </a:p>
          <a:p>
            <a:pPr>
              <a:buClr>
                <a:schemeClr val="tx1"/>
              </a:buClr>
              <a:buFont typeface="Arial" panose="020B0604020202020204" pitchFamily="34" charset="0"/>
              <a:buChar char="•"/>
            </a:pPr>
            <a:r>
              <a:rPr lang="en-US" sz="1500" dirty="0">
                <a:solidFill>
                  <a:schemeClr val="tx1"/>
                </a:solidFill>
              </a:rPr>
              <a:t>SGD with momentum.</a:t>
            </a:r>
          </a:p>
          <a:p>
            <a:pPr>
              <a:buClr>
                <a:schemeClr val="tx1"/>
              </a:buClr>
              <a:buFont typeface="Arial" panose="020B0604020202020204" pitchFamily="34" charset="0"/>
              <a:buChar char="•"/>
            </a:pPr>
            <a:r>
              <a:rPr lang="en-US" sz="1500" dirty="0">
                <a:solidFill>
                  <a:schemeClr val="tx1"/>
                </a:solidFill>
              </a:rPr>
              <a:t>L2 regularization.</a:t>
            </a:r>
          </a:p>
          <a:p>
            <a:pPr>
              <a:buClr>
                <a:schemeClr val="tx1"/>
              </a:buClr>
              <a:buFont typeface="Arial" panose="020B0604020202020204" pitchFamily="34" charset="0"/>
              <a:buChar char="•"/>
            </a:pPr>
            <a:r>
              <a:rPr lang="en-US" sz="1500" dirty="0">
                <a:solidFill>
                  <a:schemeClr val="tx1"/>
                </a:solidFill>
              </a:rPr>
              <a:t>Early stopping.</a:t>
            </a:r>
          </a:p>
        </p:txBody>
      </p:sp>
      <p:sp>
        <p:nvSpPr>
          <p:cNvPr id="4" name="Segnaposto numero diapositiva 3">
            <a:extLst>
              <a:ext uri="{FF2B5EF4-FFF2-40B4-BE49-F238E27FC236}">
                <a16:creationId xmlns:a16="http://schemas.microsoft.com/office/drawing/2014/main" id="{DF2E9391-5664-5035-B0E6-CE6941E9A38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10</a:t>
            </a:fld>
            <a:endParaRPr lang="it-IT"/>
          </a:p>
        </p:txBody>
      </p:sp>
    </p:spTree>
    <p:extLst>
      <p:ext uri="{BB962C8B-B14F-4D97-AF65-F5344CB8AC3E}">
        <p14:creationId xmlns:p14="http://schemas.microsoft.com/office/powerpoint/2010/main" val="3970904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AA19F7B-4CBD-8FBD-69BE-ADDE3794F21D}"/>
              </a:ext>
            </a:extLst>
          </p:cNvPr>
          <p:cNvSpPr>
            <a:spLocks noGrp="1"/>
          </p:cNvSpPr>
          <p:nvPr>
            <p:ph type="title"/>
          </p:nvPr>
        </p:nvSpPr>
        <p:spPr/>
        <p:txBody>
          <a:bodyPr>
            <a:noAutofit/>
          </a:bodyPr>
          <a:lstStyle/>
          <a:p>
            <a:r>
              <a:rPr lang="en-US" sz="3000" b="1" dirty="0"/>
              <a:t>ANN grid search on Monk problems</a:t>
            </a:r>
          </a:p>
        </p:txBody>
      </p:sp>
      <p:sp>
        <p:nvSpPr>
          <p:cNvPr id="4" name="Segnaposto numero diapositiva 3">
            <a:extLst>
              <a:ext uri="{FF2B5EF4-FFF2-40B4-BE49-F238E27FC236}">
                <a16:creationId xmlns:a16="http://schemas.microsoft.com/office/drawing/2014/main" id="{A05031EE-F8FB-36DC-2C5E-87B437A5FF3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11</a:t>
            </a:fld>
            <a:endParaRPr lang="it-IT"/>
          </a:p>
        </p:txBody>
      </p:sp>
      <p:pic>
        <p:nvPicPr>
          <p:cNvPr id="6" name="Immagine 5" descr="Immagine che contiene testo, schermata, linea, Carattere&#10;&#10;Il contenuto generato dall'IA potrebbe non essere corretto.">
            <a:extLst>
              <a:ext uri="{FF2B5EF4-FFF2-40B4-BE49-F238E27FC236}">
                <a16:creationId xmlns:a16="http://schemas.microsoft.com/office/drawing/2014/main" id="{8D2EE024-ADE0-AA11-1209-EA263227DEF9}"/>
              </a:ext>
            </a:extLst>
          </p:cNvPr>
          <p:cNvPicPr>
            <a:picLocks noChangeAspect="1"/>
          </p:cNvPicPr>
          <p:nvPr/>
        </p:nvPicPr>
        <p:blipFill>
          <a:blip r:embed="rId2"/>
          <a:stretch>
            <a:fillRect/>
          </a:stretch>
        </p:blipFill>
        <p:spPr>
          <a:xfrm>
            <a:off x="0" y="1441835"/>
            <a:ext cx="9144000" cy="2259830"/>
          </a:xfrm>
          <a:prstGeom prst="rect">
            <a:avLst/>
          </a:prstGeom>
        </p:spPr>
      </p:pic>
      <p:sp>
        <p:nvSpPr>
          <p:cNvPr id="7" name="CasellaDiTesto 6">
            <a:extLst>
              <a:ext uri="{FF2B5EF4-FFF2-40B4-BE49-F238E27FC236}">
                <a16:creationId xmlns:a16="http://schemas.microsoft.com/office/drawing/2014/main" id="{91C359E9-C605-55BC-C5BE-3BF805572894}"/>
              </a:ext>
            </a:extLst>
          </p:cNvPr>
          <p:cNvSpPr txBox="1"/>
          <p:nvPr/>
        </p:nvSpPr>
        <p:spPr>
          <a:xfrm>
            <a:off x="63610" y="3701665"/>
            <a:ext cx="9016780" cy="323165"/>
          </a:xfrm>
          <a:prstGeom prst="rect">
            <a:avLst/>
          </a:prstGeom>
          <a:noFill/>
        </p:spPr>
        <p:txBody>
          <a:bodyPr wrap="square" rtlCol="0">
            <a:spAutoFit/>
          </a:bodyPr>
          <a:lstStyle/>
          <a:p>
            <a:pPr algn="ctr"/>
            <a:r>
              <a:rPr lang="en-US" sz="1500" b="1" dirty="0"/>
              <a:t>Table 3</a:t>
            </a:r>
            <a:r>
              <a:rPr lang="en-US" sz="1500" dirty="0"/>
              <a:t>. Grid search for the Monk tasks.</a:t>
            </a:r>
          </a:p>
        </p:txBody>
      </p:sp>
    </p:spTree>
    <p:extLst>
      <p:ext uri="{BB962C8B-B14F-4D97-AF65-F5344CB8AC3E}">
        <p14:creationId xmlns:p14="http://schemas.microsoft.com/office/powerpoint/2010/main" val="3325909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9C0647-4AFC-73A4-CBA3-FAA3E8AF311F}"/>
              </a:ext>
            </a:extLst>
          </p:cNvPr>
          <p:cNvSpPr>
            <a:spLocks noGrp="1"/>
          </p:cNvSpPr>
          <p:nvPr>
            <p:ph type="title"/>
          </p:nvPr>
        </p:nvSpPr>
        <p:spPr/>
        <p:txBody>
          <a:bodyPr>
            <a:noAutofit/>
          </a:bodyPr>
          <a:lstStyle/>
          <a:p>
            <a:r>
              <a:rPr lang="en-US" sz="3000" b="1" dirty="0"/>
              <a:t>ANN grid search on CUP problem</a:t>
            </a:r>
          </a:p>
        </p:txBody>
      </p:sp>
      <p:sp>
        <p:nvSpPr>
          <p:cNvPr id="4" name="Segnaposto numero diapositiva 3">
            <a:extLst>
              <a:ext uri="{FF2B5EF4-FFF2-40B4-BE49-F238E27FC236}">
                <a16:creationId xmlns:a16="http://schemas.microsoft.com/office/drawing/2014/main" id="{A9815AE9-D5EC-A7C6-0312-6B96DCA9CC5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12</a:t>
            </a:fld>
            <a:endParaRPr lang="it-IT"/>
          </a:p>
        </p:txBody>
      </p:sp>
      <p:pic>
        <p:nvPicPr>
          <p:cNvPr id="6" name="Immagine 5" descr="Immagine che contiene testo, Carattere, linea, numero&#10;&#10;Il contenuto generato dall'IA potrebbe non essere corretto.">
            <a:extLst>
              <a:ext uri="{FF2B5EF4-FFF2-40B4-BE49-F238E27FC236}">
                <a16:creationId xmlns:a16="http://schemas.microsoft.com/office/drawing/2014/main" id="{E21BF447-AD05-264F-3D45-E420B24D991B}"/>
              </a:ext>
            </a:extLst>
          </p:cNvPr>
          <p:cNvPicPr>
            <a:picLocks noChangeAspect="1"/>
          </p:cNvPicPr>
          <p:nvPr/>
        </p:nvPicPr>
        <p:blipFill>
          <a:blip r:embed="rId2"/>
          <a:stretch>
            <a:fillRect/>
          </a:stretch>
        </p:blipFill>
        <p:spPr>
          <a:xfrm>
            <a:off x="53743" y="1635077"/>
            <a:ext cx="9036514" cy="1873346"/>
          </a:xfrm>
          <a:prstGeom prst="rect">
            <a:avLst/>
          </a:prstGeom>
        </p:spPr>
      </p:pic>
      <p:sp>
        <p:nvSpPr>
          <p:cNvPr id="7" name="CasellaDiTesto 6">
            <a:extLst>
              <a:ext uri="{FF2B5EF4-FFF2-40B4-BE49-F238E27FC236}">
                <a16:creationId xmlns:a16="http://schemas.microsoft.com/office/drawing/2014/main" id="{0E7A1A26-783F-B615-61EE-77F4499C3C47}"/>
              </a:ext>
            </a:extLst>
          </p:cNvPr>
          <p:cNvSpPr txBox="1"/>
          <p:nvPr/>
        </p:nvSpPr>
        <p:spPr>
          <a:xfrm>
            <a:off x="-87464" y="3508423"/>
            <a:ext cx="9016780" cy="323165"/>
          </a:xfrm>
          <a:prstGeom prst="rect">
            <a:avLst/>
          </a:prstGeom>
          <a:noFill/>
        </p:spPr>
        <p:txBody>
          <a:bodyPr wrap="square" rtlCol="0">
            <a:spAutoFit/>
          </a:bodyPr>
          <a:lstStyle/>
          <a:p>
            <a:pPr algn="ctr"/>
            <a:r>
              <a:rPr lang="en-US" sz="1500" b="1" dirty="0"/>
              <a:t>Table 4</a:t>
            </a:r>
            <a:r>
              <a:rPr lang="en-US" sz="1500" dirty="0"/>
              <a:t>. Grid search for the CUP task.</a:t>
            </a:r>
          </a:p>
        </p:txBody>
      </p:sp>
    </p:spTree>
    <p:extLst>
      <p:ext uri="{BB962C8B-B14F-4D97-AF65-F5344CB8AC3E}">
        <p14:creationId xmlns:p14="http://schemas.microsoft.com/office/powerpoint/2010/main" val="3255708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242617"/>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ct val="111111"/>
              <a:buNone/>
            </a:pPr>
            <a:r>
              <a:rPr lang="it" sz="3000" b="1" dirty="0"/>
              <a:t>Final model assessment for CC </a:t>
            </a:r>
            <a:endParaRPr sz="3000" b="1" dirty="0"/>
          </a:p>
        </p:txBody>
      </p:sp>
      <p:sp>
        <p:nvSpPr>
          <p:cNvPr id="120" name="Google Shape;120;p21"/>
          <p:cNvSpPr txBox="1">
            <a:spLocks noGrp="1"/>
          </p:cNvSpPr>
          <p:nvPr>
            <p:ph type="body" idx="1"/>
          </p:nvPr>
        </p:nvSpPr>
        <p:spPr>
          <a:xfrm>
            <a:off x="311700" y="809161"/>
            <a:ext cx="8520600" cy="3416400"/>
          </a:xfrm>
          <a:prstGeom prst="rect">
            <a:avLst/>
          </a:prstGeom>
          <a:noFill/>
          <a:ln>
            <a:noFill/>
          </a:ln>
        </p:spPr>
        <p:txBody>
          <a:bodyPr spcFirstLastPara="1" wrap="square" lIns="91425" tIns="91425" rIns="91425" bIns="91425" anchor="t" anchorCtr="0">
            <a:normAutofit/>
          </a:bodyPr>
          <a:lstStyle/>
          <a:p>
            <a:pPr marL="0" indent="0" algn="just">
              <a:buNone/>
            </a:pPr>
            <a:r>
              <a:rPr lang="en-US" sz="1600" dirty="0">
                <a:solidFill>
                  <a:schemeClr val="tx1"/>
                </a:solidFill>
              </a:rPr>
              <a:t>The final model was selected by isolating the configuration with the lowest Mean Euclidean Error (MEE) on the Validation set, prioritizing architectures with stable learning curves to ensure robust generalization. </a:t>
            </a:r>
          </a:p>
          <a:p>
            <a:pPr marL="0" lvl="0" indent="0" algn="just">
              <a:buNone/>
            </a:pPr>
            <a:endParaRPr sz="1600" dirty="0">
              <a:solidFill>
                <a:schemeClr val="tx1"/>
              </a:solidFill>
            </a:endParaRPr>
          </a:p>
        </p:txBody>
      </p:sp>
      <p:sp>
        <p:nvSpPr>
          <p:cNvPr id="121" name="Google Shape;121;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13</a:t>
            </a:fld>
            <a:endParaRPr/>
          </a:p>
        </p:txBody>
      </p:sp>
      <p:graphicFrame>
        <p:nvGraphicFramePr>
          <p:cNvPr id="3" name="Tabella 2">
            <a:extLst>
              <a:ext uri="{FF2B5EF4-FFF2-40B4-BE49-F238E27FC236}">
                <a16:creationId xmlns:a16="http://schemas.microsoft.com/office/drawing/2014/main" id="{8A124595-A3DE-CC87-594A-71A6389D89D5}"/>
              </a:ext>
            </a:extLst>
          </p:cNvPr>
          <p:cNvGraphicFramePr>
            <a:graphicFrameLocks noGrp="1"/>
          </p:cNvGraphicFramePr>
          <p:nvPr>
            <p:extLst>
              <p:ext uri="{D42A27DB-BD31-4B8C-83A1-F6EECF244321}">
                <p14:modId xmlns:p14="http://schemas.microsoft.com/office/powerpoint/2010/main" val="1645040456"/>
              </p:ext>
            </p:extLst>
          </p:nvPr>
        </p:nvGraphicFramePr>
        <p:xfrm>
          <a:off x="413656" y="1827801"/>
          <a:ext cx="8240490" cy="1285240"/>
        </p:xfrm>
        <a:graphic>
          <a:graphicData uri="http://schemas.openxmlformats.org/drawingml/2006/table">
            <a:tbl>
              <a:tblPr firstRow="1" bandRow="1">
                <a:tableStyleId>{5940675A-B579-460E-94D1-54222C63F5DA}</a:tableStyleId>
              </a:tblPr>
              <a:tblGrid>
                <a:gridCol w="1373415">
                  <a:extLst>
                    <a:ext uri="{9D8B030D-6E8A-4147-A177-3AD203B41FA5}">
                      <a16:colId xmlns:a16="http://schemas.microsoft.com/office/drawing/2014/main" val="3393095632"/>
                    </a:ext>
                  </a:extLst>
                </a:gridCol>
                <a:gridCol w="1373415">
                  <a:extLst>
                    <a:ext uri="{9D8B030D-6E8A-4147-A177-3AD203B41FA5}">
                      <a16:colId xmlns:a16="http://schemas.microsoft.com/office/drawing/2014/main" val="1524421111"/>
                    </a:ext>
                  </a:extLst>
                </a:gridCol>
                <a:gridCol w="1373415">
                  <a:extLst>
                    <a:ext uri="{9D8B030D-6E8A-4147-A177-3AD203B41FA5}">
                      <a16:colId xmlns:a16="http://schemas.microsoft.com/office/drawing/2014/main" val="1696348964"/>
                    </a:ext>
                  </a:extLst>
                </a:gridCol>
                <a:gridCol w="1373415">
                  <a:extLst>
                    <a:ext uri="{9D8B030D-6E8A-4147-A177-3AD203B41FA5}">
                      <a16:colId xmlns:a16="http://schemas.microsoft.com/office/drawing/2014/main" val="766119807"/>
                    </a:ext>
                  </a:extLst>
                </a:gridCol>
                <a:gridCol w="1373415">
                  <a:extLst>
                    <a:ext uri="{9D8B030D-6E8A-4147-A177-3AD203B41FA5}">
                      <a16:colId xmlns:a16="http://schemas.microsoft.com/office/drawing/2014/main" val="3691582082"/>
                    </a:ext>
                  </a:extLst>
                </a:gridCol>
                <a:gridCol w="1373415">
                  <a:extLst>
                    <a:ext uri="{9D8B030D-6E8A-4147-A177-3AD203B41FA5}">
                      <a16:colId xmlns:a16="http://schemas.microsoft.com/office/drawing/2014/main" val="1839492720"/>
                    </a:ext>
                  </a:extLst>
                </a:gridCol>
              </a:tblGrid>
              <a:tr h="370840">
                <a:tc gridSpan="6">
                  <a:txBody>
                    <a:bodyPr/>
                    <a:lstStyle/>
                    <a:p>
                      <a:pPr algn="ctr"/>
                      <a:r>
                        <a:rPr lang="en-US" sz="1200" b="1" dirty="0"/>
                        <a:t>FINAL MODEL HYPERPARAMETERS</a:t>
                      </a:r>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tc hMerge="1">
                  <a:txBody>
                    <a:bodyPr/>
                    <a:lstStyle/>
                    <a:p>
                      <a:pPr algn="ctr"/>
                      <a:endParaRPr lang="en-US" dirty="0"/>
                    </a:p>
                  </a:txBody>
                  <a:tcPr anchor="ctr"/>
                </a:tc>
                <a:extLst>
                  <a:ext uri="{0D108BD9-81ED-4DB2-BD59-A6C34878D82A}">
                    <a16:rowId xmlns:a16="http://schemas.microsoft.com/office/drawing/2014/main" val="3652481474"/>
                  </a:ext>
                </a:extLst>
              </a:tr>
              <a:tr h="370840">
                <a:tc>
                  <a:txBody>
                    <a:bodyPr/>
                    <a:lstStyle/>
                    <a:p>
                      <a:pPr algn="ctr"/>
                      <a:r>
                        <a:rPr lang="en-US" sz="1200" dirty="0"/>
                        <a:t>Learning rate</a:t>
                      </a:r>
                    </a:p>
                  </a:txBody>
                  <a:tcPr anchor="ctr"/>
                </a:tc>
                <a:tc>
                  <a:txBody>
                    <a:bodyPr/>
                    <a:lstStyle/>
                    <a:p>
                      <a:pPr algn="ctr"/>
                      <a:r>
                        <a:rPr lang="en-US" sz="1200" dirty="0"/>
                        <a:t>Patience</a:t>
                      </a:r>
                    </a:p>
                  </a:txBody>
                  <a:tcPr anchor="ctr"/>
                </a:tc>
                <a:tc>
                  <a:txBody>
                    <a:bodyPr/>
                    <a:lstStyle/>
                    <a:p>
                      <a:pPr algn="ctr"/>
                      <a:r>
                        <a:rPr lang="en-US" sz="1200" dirty="0"/>
                        <a:t>Tolerance</a:t>
                      </a:r>
                    </a:p>
                  </a:txBody>
                  <a:tcPr anchor="ctr"/>
                </a:tc>
                <a:tc>
                  <a:txBody>
                    <a:bodyPr/>
                    <a:lstStyle/>
                    <a:p>
                      <a:pPr algn="ctr"/>
                      <a:r>
                        <a:rPr lang="en-US" sz="1200" dirty="0"/>
                        <a:t>Max hidden units</a:t>
                      </a:r>
                    </a:p>
                  </a:txBody>
                  <a:tcPr anchor="ctr"/>
                </a:tc>
                <a:tc>
                  <a:txBody>
                    <a:bodyPr/>
                    <a:lstStyle/>
                    <a:p>
                      <a:pPr algn="ctr"/>
                      <a:r>
                        <a:rPr lang="en-US" sz="1200" dirty="0"/>
                        <a:t>Algorithm</a:t>
                      </a:r>
                    </a:p>
                  </a:txBody>
                  <a:tcPr anchor="ctr"/>
                </a:tc>
                <a:tc>
                  <a:txBody>
                    <a:bodyPr/>
                    <a:lstStyle/>
                    <a:p>
                      <a:pPr algn="ctr"/>
                      <a:r>
                        <a:rPr lang="en-US" sz="1200" dirty="0"/>
                        <a:t>#Epochs, Momentum, Mu</a:t>
                      </a:r>
                    </a:p>
                  </a:txBody>
                  <a:tcPr anchor="ctr"/>
                </a:tc>
                <a:extLst>
                  <a:ext uri="{0D108BD9-81ED-4DB2-BD59-A6C34878D82A}">
                    <a16:rowId xmlns:a16="http://schemas.microsoft.com/office/drawing/2014/main" val="485503577"/>
                  </a:ext>
                </a:extLst>
              </a:tr>
              <a:tr h="370840">
                <a:tc>
                  <a:txBody>
                    <a:bodyPr/>
                    <a:lstStyle/>
                    <a:p>
                      <a:pPr algn="ctr"/>
                      <a:r>
                        <a:rPr lang="en-US" sz="1200" dirty="0"/>
                        <a:t>0.04000000000000001</a:t>
                      </a:r>
                    </a:p>
                  </a:txBody>
                  <a:tcPr anchor="ctr"/>
                </a:tc>
                <a:tc>
                  <a:txBody>
                    <a:bodyPr/>
                    <a:lstStyle/>
                    <a:p>
                      <a:pPr algn="ctr"/>
                      <a:r>
                        <a:rPr lang="en-US" sz="1200" dirty="0"/>
                        <a:t>70</a:t>
                      </a:r>
                    </a:p>
                  </a:txBody>
                  <a:tcPr anchor="ctr"/>
                </a:tc>
                <a:tc>
                  <a:txBody>
                    <a:bodyPr/>
                    <a:lstStyle/>
                    <a:p>
                      <a:pPr algn="ctr"/>
                      <a:r>
                        <a:rPr lang="en-US" sz="1200" dirty="0"/>
                        <a:t>0.001</a:t>
                      </a:r>
                    </a:p>
                  </a:txBody>
                  <a:tcPr anchor="ctr"/>
                </a:tc>
                <a:tc>
                  <a:txBody>
                    <a:bodyPr/>
                    <a:lstStyle/>
                    <a:p>
                      <a:pPr algn="ctr"/>
                      <a:r>
                        <a:rPr lang="en-US" sz="1200" dirty="0"/>
                        <a:t>20</a:t>
                      </a:r>
                    </a:p>
                  </a:txBody>
                  <a:tcPr anchor="ctr"/>
                </a:tc>
                <a:tc>
                  <a:txBody>
                    <a:bodyPr/>
                    <a:lstStyle/>
                    <a:p>
                      <a:pPr algn="ctr"/>
                      <a:r>
                        <a:rPr lang="en-US" sz="1200" dirty="0"/>
                        <a:t>QuickProp</a:t>
                      </a:r>
                    </a:p>
                  </a:txBody>
                  <a:tcPr anchor="ctr"/>
                </a:tc>
                <a:tc>
                  <a:txBody>
                    <a:bodyPr/>
                    <a:lstStyle/>
                    <a:p>
                      <a:pPr algn="ctr"/>
                      <a:r>
                        <a:rPr lang="en-US" sz="1200" dirty="0"/>
                        <a:t>2000, 0.0, 1.5</a:t>
                      </a:r>
                    </a:p>
                  </a:txBody>
                  <a:tcPr anchor="ctr"/>
                </a:tc>
                <a:extLst>
                  <a:ext uri="{0D108BD9-81ED-4DB2-BD59-A6C34878D82A}">
                    <a16:rowId xmlns:a16="http://schemas.microsoft.com/office/drawing/2014/main" val="1903645014"/>
                  </a:ext>
                </a:extLst>
              </a:tr>
            </a:tbl>
          </a:graphicData>
        </a:graphic>
      </p:graphicFrame>
      <p:graphicFrame>
        <p:nvGraphicFramePr>
          <p:cNvPr id="4" name="Tabella 3">
            <a:extLst>
              <a:ext uri="{FF2B5EF4-FFF2-40B4-BE49-F238E27FC236}">
                <a16:creationId xmlns:a16="http://schemas.microsoft.com/office/drawing/2014/main" id="{A309EC32-826F-5460-2DA9-AB2C6798F7FB}"/>
              </a:ext>
            </a:extLst>
          </p:cNvPr>
          <p:cNvGraphicFramePr>
            <a:graphicFrameLocks noGrp="1"/>
          </p:cNvGraphicFramePr>
          <p:nvPr>
            <p:extLst>
              <p:ext uri="{D42A27DB-BD31-4B8C-83A1-F6EECF244321}">
                <p14:modId xmlns:p14="http://schemas.microsoft.com/office/powerpoint/2010/main" val="1534098250"/>
              </p:ext>
            </p:extLst>
          </p:nvPr>
        </p:nvGraphicFramePr>
        <p:xfrm>
          <a:off x="413656" y="3331869"/>
          <a:ext cx="8240487" cy="1112520"/>
        </p:xfrm>
        <a:graphic>
          <a:graphicData uri="http://schemas.openxmlformats.org/drawingml/2006/table">
            <a:tbl>
              <a:tblPr firstRow="1" bandRow="1">
                <a:tableStyleId>{5940675A-B579-460E-94D1-54222C63F5DA}</a:tableStyleId>
              </a:tblPr>
              <a:tblGrid>
                <a:gridCol w="2746829">
                  <a:extLst>
                    <a:ext uri="{9D8B030D-6E8A-4147-A177-3AD203B41FA5}">
                      <a16:colId xmlns:a16="http://schemas.microsoft.com/office/drawing/2014/main" val="1737054468"/>
                    </a:ext>
                  </a:extLst>
                </a:gridCol>
                <a:gridCol w="2746829">
                  <a:extLst>
                    <a:ext uri="{9D8B030D-6E8A-4147-A177-3AD203B41FA5}">
                      <a16:colId xmlns:a16="http://schemas.microsoft.com/office/drawing/2014/main" val="562334888"/>
                    </a:ext>
                  </a:extLst>
                </a:gridCol>
                <a:gridCol w="2746829">
                  <a:extLst>
                    <a:ext uri="{9D8B030D-6E8A-4147-A177-3AD203B41FA5}">
                      <a16:colId xmlns:a16="http://schemas.microsoft.com/office/drawing/2014/main" val="3214755953"/>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solidFill>
                            <a:schemeClr val="tx1"/>
                          </a:solidFill>
                        </a:rPr>
                        <a:t>MEE VALUES (performance metrics calculated on the original scale)</a:t>
                      </a:r>
                    </a:p>
                  </a:txBody>
                  <a:tcPr anchor="ctr"/>
                </a:tc>
                <a:tc hMerge="1">
                  <a:txBody>
                    <a:bodyPr/>
                    <a:lstStyle/>
                    <a:p>
                      <a:pPr algn="ctr"/>
                      <a:endParaRPr lang="en-US" dirty="0"/>
                    </a:p>
                  </a:txBody>
                  <a:tcPr anchor="ctr"/>
                </a:tc>
                <a:tc hMerge="1">
                  <a:txBody>
                    <a:bodyPr/>
                    <a:lstStyle/>
                    <a:p>
                      <a:pPr algn="ctr"/>
                      <a:endParaRPr lang="en-US" dirty="0"/>
                    </a:p>
                  </a:txBody>
                  <a:tcPr anchor="ctr"/>
                </a:tc>
                <a:extLst>
                  <a:ext uri="{0D108BD9-81ED-4DB2-BD59-A6C34878D82A}">
                    <a16:rowId xmlns:a16="http://schemas.microsoft.com/office/drawing/2014/main" val="4234817729"/>
                  </a:ext>
                </a:extLst>
              </a:tr>
              <a:tr h="370840">
                <a:tc>
                  <a:txBody>
                    <a:bodyPr/>
                    <a:lstStyle/>
                    <a:p>
                      <a:pPr algn="ctr"/>
                      <a:r>
                        <a:rPr lang="en-US" sz="1200" dirty="0"/>
                        <a:t>MEE TR </a:t>
                      </a:r>
                    </a:p>
                  </a:txBody>
                  <a:tcPr anchor="ctr"/>
                </a:tc>
                <a:tc>
                  <a:txBody>
                    <a:bodyPr/>
                    <a:lstStyle/>
                    <a:p>
                      <a:pPr algn="ctr"/>
                      <a:r>
                        <a:rPr lang="en-US" sz="1200" dirty="0"/>
                        <a:t>MEE VL </a:t>
                      </a:r>
                    </a:p>
                  </a:txBody>
                  <a:tcPr anchor="ctr"/>
                </a:tc>
                <a:tc>
                  <a:txBody>
                    <a:bodyPr/>
                    <a:lstStyle/>
                    <a:p>
                      <a:pPr algn="ctr"/>
                      <a:r>
                        <a:rPr lang="en-US" sz="1200" dirty="0"/>
                        <a:t>MEE TS </a:t>
                      </a:r>
                    </a:p>
                  </a:txBody>
                  <a:tcPr anchor="ctr"/>
                </a:tc>
                <a:extLst>
                  <a:ext uri="{0D108BD9-81ED-4DB2-BD59-A6C34878D82A}">
                    <a16:rowId xmlns:a16="http://schemas.microsoft.com/office/drawing/2014/main" val="3119753060"/>
                  </a:ext>
                </a:extLst>
              </a:tr>
              <a:tr h="370840">
                <a:tc>
                  <a:txBody>
                    <a:bodyPr/>
                    <a:lstStyle/>
                    <a:p>
                      <a:pPr algn="ctr"/>
                      <a:r>
                        <a:rPr lang="en-US" sz="1200" dirty="0"/>
                        <a:t>16.953521</a:t>
                      </a:r>
                    </a:p>
                  </a:txBody>
                  <a:tcPr anchor="ctr"/>
                </a:tc>
                <a:tc>
                  <a:txBody>
                    <a:bodyPr/>
                    <a:lstStyle/>
                    <a:p>
                      <a:pPr algn="ctr"/>
                      <a:r>
                        <a:rPr lang="en-US" sz="1200" dirty="0"/>
                        <a:t>22.744240</a:t>
                      </a:r>
                    </a:p>
                  </a:txBody>
                  <a:tcPr anchor="ctr"/>
                </a:tc>
                <a:tc>
                  <a:txBody>
                    <a:bodyPr/>
                    <a:lstStyle/>
                    <a:p>
                      <a:pPr algn="ctr"/>
                      <a:r>
                        <a:rPr lang="en-US" sz="1200" dirty="0"/>
                        <a:t>23.938295</a:t>
                      </a:r>
                    </a:p>
                  </a:txBody>
                  <a:tcPr anchor="ctr"/>
                </a:tc>
                <a:extLst>
                  <a:ext uri="{0D108BD9-81ED-4DB2-BD59-A6C34878D82A}">
                    <a16:rowId xmlns:a16="http://schemas.microsoft.com/office/drawing/2014/main" val="3841498514"/>
                  </a:ext>
                </a:extLst>
              </a:tr>
            </a:tbl>
          </a:graphicData>
        </a:graphic>
      </p:graphicFrame>
      <p:sp>
        <p:nvSpPr>
          <p:cNvPr id="5" name="CasellaDiTesto 4">
            <a:extLst>
              <a:ext uri="{FF2B5EF4-FFF2-40B4-BE49-F238E27FC236}">
                <a16:creationId xmlns:a16="http://schemas.microsoft.com/office/drawing/2014/main" id="{DEE8DBD1-8D42-73CA-9D54-C0086913FB3E}"/>
              </a:ext>
            </a:extLst>
          </p:cNvPr>
          <p:cNvSpPr txBox="1"/>
          <p:nvPr/>
        </p:nvSpPr>
        <p:spPr>
          <a:xfrm>
            <a:off x="413656" y="4444389"/>
            <a:ext cx="8240487" cy="1785104"/>
          </a:xfrm>
          <a:prstGeom prst="rect">
            <a:avLst/>
          </a:prstGeom>
          <a:noFill/>
        </p:spPr>
        <p:txBody>
          <a:bodyPr wrap="square" rtlCol="0">
            <a:spAutoFit/>
          </a:bodyPr>
          <a:lstStyle/>
          <a:p>
            <a:pPr marL="0" indent="0">
              <a:buNone/>
            </a:pPr>
            <a:r>
              <a:rPr lang="en-US" sz="1200" dirty="0">
                <a:solidFill>
                  <a:schemeClr val="tx1"/>
                </a:solidFill>
              </a:rPr>
              <a:t>Estimation of the training computing time: 16.3 min</a:t>
            </a:r>
          </a:p>
          <a:p>
            <a:pPr marL="0" indent="0">
              <a:buNone/>
            </a:pPr>
            <a:r>
              <a:rPr lang="en-US" sz="1200" dirty="0">
                <a:solidFill>
                  <a:schemeClr val="tx1"/>
                </a:solidFill>
              </a:rPr>
              <a:t>HW resources: CPU: AMD64 Family 23 Model 24 Stepping 1, Authentic AMD Ryzen5, Cores: 8, OS: Windows 11</a:t>
            </a:r>
          </a:p>
          <a:p>
            <a:pPr marL="0" lvl="0" indent="0" algn="just">
              <a:buNone/>
            </a:pPr>
            <a:endParaRPr lang="en-US" sz="1200" dirty="0">
              <a:solidFill>
                <a:schemeClr val="tx1"/>
              </a:solidFill>
            </a:endParaRPr>
          </a:p>
          <a:p>
            <a:pPr marL="0" lvl="0" indent="0" algn="just">
              <a:buNone/>
            </a:pPr>
            <a:endParaRPr lang="en-US" sz="1200" dirty="0">
              <a:solidFill>
                <a:schemeClr val="tx1"/>
              </a:solidFill>
            </a:endParaRPr>
          </a:p>
          <a:p>
            <a:pPr marL="0" lvl="0" indent="0" algn="just">
              <a:buNone/>
            </a:pPr>
            <a:endParaRPr lang="en-US" sz="1200" dirty="0">
              <a:solidFill>
                <a:schemeClr val="tx1"/>
              </a:solidFill>
            </a:endParaRPr>
          </a:p>
          <a:p>
            <a:pPr marL="0" lvl="0" indent="0" algn="just">
              <a:buNone/>
            </a:pPr>
            <a:endParaRPr lang="en-US" sz="1200" dirty="0">
              <a:solidFill>
                <a:schemeClr val="tx1"/>
              </a:solidFill>
            </a:endParaRPr>
          </a:p>
          <a:p>
            <a:pPr marL="0" lvl="0" indent="0" algn="just">
              <a:buNone/>
            </a:pPr>
            <a:endParaRPr lang="en-US" sz="1200" dirty="0">
              <a:solidFill>
                <a:schemeClr val="tx1"/>
              </a:solidFill>
            </a:endParaRPr>
          </a:p>
          <a:p>
            <a:pPr marL="114300" indent="0">
              <a:buNone/>
            </a:pPr>
            <a:endParaRPr lang="en-US" sz="1200" dirty="0"/>
          </a:p>
          <a:p>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34E2696-6569-16AA-1275-698BD419C81E}"/>
              </a:ext>
            </a:extLst>
          </p:cNvPr>
          <p:cNvSpPr>
            <a:spLocks noGrp="1"/>
          </p:cNvSpPr>
          <p:nvPr>
            <p:ph type="title"/>
          </p:nvPr>
        </p:nvSpPr>
        <p:spPr>
          <a:xfrm>
            <a:off x="311698" y="137248"/>
            <a:ext cx="8520600" cy="572700"/>
          </a:xfrm>
        </p:spPr>
        <p:txBody>
          <a:bodyPr>
            <a:noAutofit/>
          </a:bodyPr>
          <a:lstStyle/>
          <a:p>
            <a:r>
              <a:rPr lang="en-US" sz="3000" b="1" dirty="0">
                <a:solidFill>
                  <a:schemeClr val="tx1"/>
                </a:solidFill>
              </a:rPr>
              <a:t>ANN – Monk results </a:t>
            </a:r>
          </a:p>
        </p:txBody>
      </p:sp>
      <p:sp>
        <p:nvSpPr>
          <p:cNvPr id="4" name="Segnaposto numero diapositiva 3">
            <a:extLst>
              <a:ext uri="{FF2B5EF4-FFF2-40B4-BE49-F238E27FC236}">
                <a16:creationId xmlns:a16="http://schemas.microsoft.com/office/drawing/2014/main" id="{B0568D0A-ECF3-1D8D-35FD-610A2CB36C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14</a:t>
            </a:fld>
            <a:endParaRPr lang="it-IT"/>
          </a:p>
        </p:txBody>
      </p:sp>
      <p:pic>
        <p:nvPicPr>
          <p:cNvPr id="6" name="Immagine 5" descr="Immagine che contiene testo, schermata, linea, numero&#10;&#10;Il contenuto generato dall'IA potrebbe non essere corretto.">
            <a:extLst>
              <a:ext uri="{FF2B5EF4-FFF2-40B4-BE49-F238E27FC236}">
                <a16:creationId xmlns:a16="http://schemas.microsoft.com/office/drawing/2014/main" id="{3F7B705A-10DE-9890-5A9E-76CE3F064A2B}"/>
              </a:ext>
            </a:extLst>
          </p:cNvPr>
          <p:cNvPicPr>
            <a:picLocks noChangeAspect="1"/>
          </p:cNvPicPr>
          <p:nvPr/>
        </p:nvPicPr>
        <p:blipFill>
          <a:blip r:embed="rId2"/>
          <a:stretch>
            <a:fillRect/>
          </a:stretch>
        </p:blipFill>
        <p:spPr>
          <a:xfrm>
            <a:off x="0" y="678387"/>
            <a:ext cx="9144000" cy="2424588"/>
          </a:xfrm>
          <a:prstGeom prst="rect">
            <a:avLst/>
          </a:prstGeom>
        </p:spPr>
      </p:pic>
      <p:sp>
        <p:nvSpPr>
          <p:cNvPr id="7" name="CasellaDiTesto 6">
            <a:extLst>
              <a:ext uri="{FF2B5EF4-FFF2-40B4-BE49-F238E27FC236}">
                <a16:creationId xmlns:a16="http://schemas.microsoft.com/office/drawing/2014/main" id="{E47F32F9-85AB-88DF-4BA3-5213F6E88093}"/>
              </a:ext>
            </a:extLst>
          </p:cNvPr>
          <p:cNvSpPr txBox="1"/>
          <p:nvPr/>
        </p:nvSpPr>
        <p:spPr>
          <a:xfrm>
            <a:off x="71559" y="3118755"/>
            <a:ext cx="9000877" cy="307777"/>
          </a:xfrm>
          <a:prstGeom prst="rect">
            <a:avLst/>
          </a:prstGeom>
          <a:noFill/>
        </p:spPr>
        <p:txBody>
          <a:bodyPr wrap="square" rtlCol="0">
            <a:spAutoFit/>
          </a:bodyPr>
          <a:lstStyle/>
          <a:p>
            <a:pPr algn="ctr"/>
            <a:r>
              <a:rPr lang="en-US" b="1" dirty="0"/>
              <a:t>Table 5</a:t>
            </a:r>
            <a:r>
              <a:rPr lang="en-US" dirty="0"/>
              <a:t>. Average predictions results for the Monk's task.</a:t>
            </a:r>
          </a:p>
        </p:txBody>
      </p:sp>
      <p:pic>
        <p:nvPicPr>
          <p:cNvPr id="9" name="Immagine 8" descr="Immagine che contiene testo, schermata, Carattere, linea&#10;&#10;Il contenuto generato dall'IA potrebbe non essere corretto.">
            <a:extLst>
              <a:ext uri="{FF2B5EF4-FFF2-40B4-BE49-F238E27FC236}">
                <a16:creationId xmlns:a16="http://schemas.microsoft.com/office/drawing/2014/main" id="{2D9534E3-3899-D5E5-806C-AB82687F6933}"/>
              </a:ext>
            </a:extLst>
          </p:cNvPr>
          <p:cNvPicPr>
            <a:picLocks noChangeAspect="1"/>
          </p:cNvPicPr>
          <p:nvPr/>
        </p:nvPicPr>
        <p:blipFill>
          <a:blip r:embed="rId3"/>
          <a:stretch>
            <a:fillRect/>
          </a:stretch>
        </p:blipFill>
        <p:spPr>
          <a:xfrm>
            <a:off x="1219024" y="3530943"/>
            <a:ext cx="6705945" cy="1130358"/>
          </a:xfrm>
          <a:prstGeom prst="rect">
            <a:avLst/>
          </a:prstGeom>
        </p:spPr>
      </p:pic>
      <p:sp>
        <p:nvSpPr>
          <p:cNvPr id="10" name="CasellaDiTesto 9">
            <a:extLst>
              <a:ext uri="{FF2B5EF4-FFF2-40B4-BE49-F238E27FC236}">
                <a16:creationId xmlns:a16="http://schemas.microsoft.com/office/drawing/2014/main" id="{CCFA5FF1-C246-CDE8-880D-1465ABBFC5A5}"/>
              </a:ext>
            </a:extLst>
          </p:cNvPr>
          <p:cNvSpPr txBox="1"/>
          <p:nvPr/>
        </p:nvSpPr>
        <p:spPr>
          <a:xfrm>
            <a:off x="122842" y="4661301"/>
            <a:ext cx="9000877" cy="307777"/>
          </a:xfrm>
          <a:prstGeom prst="rect">
            <a:avLst/>
          </a:prstGeom>
          <a:noFill/>
        </p:spPr>
        <p:txBody>
          <a:bodyPr wrap="square" rtlCol="0">
            <a:spAutoFit/>
          </a:bodyPr>
          <a:lstStyle/>
          <a:p>
            <a:pPr algn="ctr"/>
            <a:r>
              <a:rPr lang="en-US" b="1" dirty="0"/>
              <a:t>Table 6</a:t>
            </a:r>
            <a:r>
              <a:rPr lang="en-US" dirty="0"/>
              <a:t>. Ensemble results for the Monk's task.</a:t>
            </a:r>
          </a:p>
        </p:txBody>
      </p:sp>
    </p:spTree>
    <p:extLst>
      <p:ext uri="{BB962C8B-B14F-4D97-AF65-F5344CB8AC3E}">
        <p14:creationId xmlns:p14="http://schemas.microsoft.com/office/powerpoint/2010/main" val="39849939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049158-10E2-1EB7-416F-B3DF82A978ED}"/>
              </a:ext>
            </a:extLst>
          </p:cNvPr>
          <p:cNvSpPr>
            <a:spLocks noGrp="1"/>
          </p:cNvSpPr>
          <p:nvPr>
            <p:ph type="title"/>
          </p:nvPr>
        </p:nvSpPr>
        <p:spPr/>
        <p:txBody>
          <a:bodyPr>
            <a:noAutofit/>
          </a:bodyPr>
          <a:lstStyle/>
          <a:p>
            <a:r>
              <a:rPr lang="en-US" sz="3000" b="1" dirty="0"/>
              <a:t>ANN – Monk learning curves</a:t>
            </a:r>
          </a:p>
        </p:txBody>
      </p:sp>
      <p:sp>
        <p:nvSpPr>
          <p:cNvPr id="4" name="Segnaposto numero diapositiva 3">
            <a:extLst>
              <a:ext uri="{FF2B5EF4-FFF2-40B4-BE49-F238E27FC236}">
                <a16:creationId xmlns:a16="http://schemas.microsoft.com/office/drawing/2014/main" id="{2AA05B7E-4007-36C1-0309-2C8F9C6DE8E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15</a:t>
            </a:fld>
            <a:endParaRPr lang="it-IT"/>
          </a:p>
        </p:txBody>
      </p:sp>
      <p:graphicFrame>
        <p:nvGraphicFramePr>
          <p:cNvPr id="6" name="Tabella 5">
            <a:extLst>
              <a:ext uri="{FF2B5EF4-FFF2-40B4-BE49-F238E27FC236}">
                <a16:creationId xmlns:a16="http://schemas.microsoft.com/office/drawing/2014/main" id="{1CA02B4B-A421-31E1-688E-E77A9E8FF4E1}"/>
              </a:ext>
            </a:extLst>
          </p:cNvPr>
          <p:cNvGraphicFramePr>
            <a:graphicFrameLocks noGrp="1"/>
          </p:cNvGraphicFramePr>
          <p:nvPr>
            <p:extLst>
              <p:ext uri="{D42A27DB-BD31-4B8C-83A1-F6EECF244321}">
                <p14:modId xmlns:p14="http://schemas.microsoft.com/office/powerpoint/2010/main" val="1399801194"/>
              </p:ext>
            </p:extLst>
          </p:nvPr>
        </p:nvGraphicFramePr>
        <p:xfrm>
          <a:off x="290749" y="1107036"/>
          <a:ext cx="8520600" cy="3466869"/>
        </p:xfrm>
        <a:graphic>
          <a:graphicData uri="http://schemas.openxmlformats.org/drawingml/2006/table">
            <a:tbl>
              <a:tblPr firstRow="1" bandRow="1">
                <a:tableStyleId>{5940675A-B579-460E-94D1-54222C63F5DA}</a:tableStyleId>
              </a:tblPr>
              <a:tblGrid>
                <a:gridCol w="2840200">
                  <a:extLst>
                    <a:ext uri="{9D8B030D-6E8A-4147-A177-3AD203B41FA5}">
                      <a16:colId xmlns:a16="http://schemas.microsoft.com/office/drawing/2014/main" val="3710079171"/>
                    </a:ext>
                  </a:extLst>
                </a:gridCol>
                <a:gridCol w="2840200">
                  <a:extLst>
                    <a:ext uri="{9D8B030D-6E8A-4147-A177-3AD203B41FA5}">
                      <a16:colId xmlns:a16="http://schemas.microsoft.com/office/drawing/2014/main" val="1282650211"/>
                    </a:ext>
                  </a:extLst>
                </a:gridCol>
                <a:gridCol w="2840200">
                  <a:extLst>
                    <a:ext uri="{9D8B030D-6E8A-4147-A177-3AD203B41FA5}">
                      <a16:colId xmlns:a16="http://schemas.microsoft.com/office/drawing/2014/main" val="561909923"/>
                    </a:ext>
                  </a:extLst>
                </a:gridCol>
              </a:tblGrid>
              <a:tr h="0">
                <a:tc>
                  <a:txBody>
                    <a:bodyPr/>
                    <a:lstStyle/>
                    <a:p>
                      <a:pPr algn="ctr"/>
                      <a:r>
                        <a:rPr lang="en-US" b="1" dirty="0"/>
                        <a:t>MONK 1</a:t>
                      </a:r>
                    </a:p>
                  </a:txBody>
                  <a:tcPr/>
                </a:tc>
                <a:tc>
                  <a:txBody>
                    <a:bodyPr/>
                    <a:lstStyle/>
                    <a:p>
                      <a:pPr algn="ctr"/>
                      <a:r>
                        <a:rPr lang="en-US" b="1" dirty="0"/>
                        <a:t>MONK 2</a:t>
                      </a:r>
                    </a:p>
                  </a:txBody>
                  <a:tcPr/>
                </a:tc>
                <a:tc>
                  <a:txBody>
                    <a:bodyPr/>
                    <a:lstStyle/>
                    <a:p>
                      <a:pPr algn="ctr"/>
                      <a:r>
                        <a:rPr lang="en-US" b="1" dirty="0"/>
                        <a:t>MONK 3</a:t>
                      </a:r>
                    </a:p>
                  </a:txBody>
                  <a:tcPr/>
                </a:tc>
                <a:extLst>
                  <a:ext uri="{0D108BD9-81ED-4DB2-BD59-A6C34878D82A}">
                    <a16:rowId xmlns:a16="http://schemas.microsoft.com/office/drawing/2014/main" val="317233605"/>
                  </a:ext>
                </a:extLst>
              </a:tr>
              <a:tr h="2521425">
                <a:tc>
                  <a: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2758853580"/>
                  </a:ext>
                </a:extLst>
              </a:tr>
              <a:tr h="510309">
                <a:tc>
                  <a:txBody>
                    <a:bodyPr/>
                    <a:lstStyle/>
                    <a:p>
                      <a:pPr algn="ctr"/>
                      <a:r>
                        <a:rPr lang="en-US" dirty="0"/>
                        <a:t>100% Accuracy </a:t>
                      </a:r>
                    </a:p>
                  </a:txBody>
                  <a:tcPr/>
                </a:tc>
                <a:tc>
                  <a:txBody>
                    <a:bodyPr/>
                    <a:lstStyle/>
                    <a:p>
                      <a:pPr algn="ctr"/>
                      <a:r>
                        <a:rPr lang="en-US" dirty="0"/>
                        <a:t>97% Accuracy</a:t>
                      </a:r>
                    </a:p>
                  </a:txBody>
                  <a:tcPr/>
                </a:tc>
                <a:tc>
                  <a:txBody>
                    <a:bodyPr/>
                    <a:lstStyle/>
                    <a:p>
                      <a:pPr algn="ctr"/>
                      <a:r>
                        <a:rPr lang="en-US" dirty="0"/>
                        <a:t>97% Accuracy</a:t>
                      </a:r>
                    </a:p>
                  </a:txBody>
                  <a:tcPr/>
                </a:tc>
                <a:extLst>
                  <a:ext uri="{0D108BD9-81ED-4DB2-BD59-A6C34878D82A}">
                    <a16:rowId xmlns:a16="http://schemas.microsoft.com/office/drawing/2014/main" val="3466766428"/>
                  </a:ext>
                </a:extLst>
              </a:tr>
            </a:tbl>
          </a:graphicData>
        </a:graphic>
      </p:graphicFrame>
      <p:pic>
        <p:nvPicPr>
          <p:cNvPr id="8" name="Immagine 7" descr="Immagine che contiene testo, linea, schermata, Diagramma&#10;&#10;Il contenuto generato dall'IA potrebbe non essere corretto.">
            <a:extLst>
              <a:ext uri="{FF2B5EF4-FFF2-40B4-BE49-F238E27FC236}">
                <a16:creationId xmlns:a16="http://schemas.microsoft.com/office/drawing/2014/main" id="{2AED7DB4-4C90-7E70-4233-34636813C722}"/>
              </a:ext>
            </a:extLst>
          </p:cNvPr>
          <p:cNvPicPr>
            <a:picLocks noChangeAspect="1"/>
          </p:cNvPicPr>
          <p:nvPr/>
        </p:nvPicPr>
        <p:blipFill>
          <a:blip r:embed="rId2"/>
          <a:stretch>
            <a:fillRect/>
          </a:stretch>
        </p:blipFill>
        <p:spPr>
          <a:xfrm>
            <a:off x="391886" y="1805861"/>
            <a:ext cx="2686050" cy="2109628"/>
          </a:xfrm>
          <a:prstGeom prst="rect">
            <a:avLst/>
          </a:prstGeom>
        </p:spPr>
      </p:pic>
      <p:pic>
        <p:nvPicPr>
          <p:cNvPr id="10" name="Immagine 9" descr="Immagine che contiene testo, Diagramma, linea, schermata&#10;&#10;Il contenuto generato dall'IA potrebbe non essere corretto.">
            <a:extLst>
              <a:ext uri="{FF2B5EF4-FFF2-40B4-BE49-F238E27FC236}">
                <a16:creationId xmlns:a16="http://schemas.microsoft.com/office/drawing/2014/main" id="{285F78C4-C0D6-EC0B-D464-99BAE66195AE}"/>
              </a:ext>
            </a:extLst>
          </p:cNvPr>
          <p:cNvPicPr>
            <a:picLocks noChangeAspect="1"/>
          </p:cNvPicPr>
          <p:nvPr/>
        </p:nvPicPr>
        <p:blipFill>
          <a:blip r:embed="rId3"/>
          <a:srcRect b="5220"/>
          <a:stretch>
            <a:fillRect/>
          </a:stretch>
        </p:blipFill>
        <p:spPr>
          <a:xfrm>
            <a:off x="3158122" y="1816554"/>
            <a:ext cx="2785854" cy="1510392"/>
          </a:xfrm>
          <a:prstGeom prst="rect">
            <a:avLst/>
          </a:prstGeom>
        </p:spPr>
      </p:pic>
      <p:pic>
        <p:nvPicPr>
          <p:cNvPr id="12" name="Immagine 11" descr="Immagine che contiene testo, linea, Diagramma, diagramma&#10;&#10;Il contenuto generato dall'IA potrebbe non essere corretto.">
            <a:extLst>
              <a:ext uri="{FF2B5EF4-FFF2-40B4-BE49-F238E27FC236}">
                <a16:creationId xmlns:a16="http://schemas.microsoft.com/office/drawing/2014/main" id="{27FCFE9A-81DC-B463-777D-446977A57C8F}"/>
              </a:ext>
            </a:extLst>
          </p:cNvPr>
          <p:cNvPicPr>
            <a:picLocks noChangeAspect="1"/>
          </p:cNvPicPr>
          <p:nvPr/>
        </p:nvPicPr>
        <p:blipFill>
          <a:blip r:embed="rId4"/>
          <a:stretch>
            <a:fillRect/>
          </a:stretch>
        </p:blipFill>
        <p:spPr>
          <a:xfrm>
            <a:off x="6180175" y="1587609"/>
            <a:ext cx="2415924" cy="2327880"/>
          </a:xfrm>
          <a:prstGeom prst="rect">
            <a:avLst/>
          </a:prstGeom>
        </p:spPr>
      </p:pic>
      <p:sp>
        <p:nvSpPr>
          <p:cNvPr id="13" name="CasellaDiTesto 12">
            <a:extLst>
              <a:ext uri="{FF2B5EF4-FFF2-40B4-BE49-F238E27FC236}">
                <a16:creationId xmlns:a16="http://schemas.microsoft.com/office/drawing/2014/main" id="{B0DA0070-CA1B-59AF-36FB-B6EBA90BE906}"/>
              </a:ext>
            </a:extLst>
          </p:cNvPr>
          <p:cNvSpPr txBox="1"/>
          <p:nvPr/>
        </p:nvSpPr>
        <p:spPr>
          <a:xfrm>
            <a:off x="311699" y="4619345"/>
            <a:ext cx="8520600" cy="307777"/>
          </a:xfrm>
          <a:prstGeom prst="rect">
            <a:avLst/>
          </a:prstGeom>
          <a:noFill/>
        </p:spPr>
        <p:txBody>
          <a:bodyPr wrap="square" rtlCol="0">
            <a:spAutoFit/>
          </a:bodyPr>
          <a:lstStyle/>
          <a:p>
            <a:pPr algn="ctr"/>
            <a:r>
              <a:rPr lang="en-US" b="1" dirty="0"/>
              <a:t>Table 7</a:t>
            </a:r>
            <a:r>
              <a:rPr lang="en-US" dirty="0"/>
              <a:t>. Plots of the accuracy obtained on Monk’s problems.</a:t>
            </a:r>
          </a:p>
        </p:txBody>
      </p:sp>
    </p:spTree>
    <p:extLst>
      <p:ext uri="{BB962C8B-B14F-4D97-AF65-F5344CB8AC3E}">
        <p14:creationId xmlns:p14="http://schemas.microsoft.com/office/powerpoint/2010/main" val="35012285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324F0CB-45FE-FE38-0708-A8CAD76FA442}"/>
              </a:ext>
            </a:extLst>
          </p:cNvPr>
          <p:cNvSpPr>
            <a:spLocks noGrp="1"/>
          </p:cNvSpPr>
          <p:nvPr>
            <p:ph type="title"/>
          </p:nvPr>
        </p:nvSpPr>
        <p:spPr/>
        <p:txBody>
          <a:bodyPr>
            <a:noAutofit/>
          </a:bodyPr>
          <a:lstStyle/>
          <a:p>
            <a:r>
              <a:rPr lang="en-US" sz="3000" b="1" dirty="0"/>
              <a:t>ANN – Monk confusion matrices</a:t>
            </a:r>
          </a:p>
        </p:txBody>
      </p:sp>
      <p:sp>
        <p:nvSpPr>
          <p:cNvPr id="4" name="Segnaposto numero diapositiva 3">
            <a:extLst>
              <a:ext uri="{FF2B5EF4-FFF2-40B4-BE49-F238E27FC236}">
                <a16:creationId xmlns:a16="http://schemas.microsoft.com/office/drawing/2014/main" id="{578082D5-B375-3DE7-BC43-B38CD850BC3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16</a:t>
            </a:fld>
            <a:endParaRPr lang="it-IT"/>
          </a:p>
        </p:txBody>
      </p:sp>
      <p:pic>
        <p:nvPicPr>
          <p:cNvPr id="6" name="Immagine 5" descr="Immagine che contiene testo, schermata, diagramma, numero&#10;&#10;Il contenuto generato dall'IA potrebbe non essere corretto.">
            <a:extLst>
              <a:ext uri="{FF2B5EF4-FFF2-40B4-BE49-F238E27FC236}">
                <a16:creationId xmlns:a16="http://schemas.microsoft.com/office/drawing/2014/main" id="{FE040224-8220-B378-A72F-33D866A69731}"/>
              </a:ext>
            </a:extLst>
          </p:cNvPr>
          <p:cNvPicPr>
            <a:picLocks noChangeAspect="1"/>
          </p:cNvPicPr>
          <p:nvPr/>
        </p:nvPicPr>
        <p:blipFill>
          <a:blip r:embed="rId2"/>
          <a:stretch>
            <a:fillRect/>
          </a:stretch>
        </p:blipFill>
        <p:spPr>
          <a:xfrm>
            <a:off x="0" y="1163366"/>
            <a:ext cx="9144000" cy="3354210"/>
          </a:xfrm>
          <a:prstGeom prst="rect">
            <a:avLst/>
          </a:prstGeom>
        </p:spPr>
      </p:pic>
      <p:sp>
        <p:nvSpPr>
          <p:cNvPr id="7" name="CasellaDiTesto 6">
            <a:extLst>
              <a:ext uri="{FF2B5EF4-FFF2-40B4-BE49-F238E27FC236}">
                <a16:creationId xmlns:a16="http://schemas.microsoft.com/office/drawing/2014/main" id="{438EB0CF-BA1C-5889-1C86-45F594FBBA89}"/>
              </a:ext>
            </a:extLst>
          </p:cNvPr>
          <p:cNvSpPr txBox="1"/>
          <p:nvPr/>
        </p:nvSpPr>
        <p:spPr>
          <a:xfrm>
            <a:off x="143123" y="4468458"/>
            <a:ext cx="9000877" cy="307777"/>
          </a:xfrm>
          <a:prstGeom prst="rect">
            <a:avLst/>
          </a:prstGeom>
          <a:noFill/>
        </p:spPr>
        <p:txBody>
          <a:bodyPr wrap="square" rtlCol="0">
            <a:spAutoFit/>
          </a:bodyPr>
          <a:lstStyle/>
          <a:p>
            <a:pPr algn="ctr"/>
            <a:r>
              <a:rPr lang="en-US" b="1" dirty="0"/>
              <a:t>Figure 1. </a:t>
            </a:r>
            <a:r>
              <a:rPr lang="en-US" dirty="0"/>
              <a:t>Confusion matrixes for the three MONK's benchmarks.</a:t>
            </a:r>
          </a:p>
        </p:txBody>
      </p:sp>
    </p:spTree>
    <p:extLst>
      <p:ext uri="{BB962C8B-B14F-4D97-AF65-F5344CB8AC3E}">
        <p14:creationId xmlns:p14="http://schemas.microsoft.com/office/powerpoint/2010/main" val="11098863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187811"/>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ct val="39285"/>
              <a:buFont typeface="Arial"/>
              <a:buNone/>
            </a:pPr>
            <a:r>
              <a:rPr lang="it" sz="3000" b="1" dirty="0"/>
              <a:t>CC – Monk results</a:t>
            </a:r>
            <a:endParaRPr sz="3000" b="1" dirty="0"/>
          </a:p>
        </p:txBody>
      </p:sp>
      <p:sp>
        <p:nvSpPr>
          <p:cNvPr id="91" name="Google Shape;9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17</a:t>
            </a:fld>
            <a:endParaRPr/>
          </a:p>
        </p:txBody>
      </p:sp>
      <p:graphicFrame>
        <p:nvGraphicFramePr>
          <p:cNvPr id="2" name="Tabella 1">
            <a:extLst>
              <a:ext uri="{FF2B5EF4-FFF2-40B4-BE49-F238E27FC236}">
                <a16:creationId xmlns:a16="http://schemas.microsoft.com/office/drawing/2014/main" id="{E798E0FC-A755-D4F8-7CAE-FA5E069E2999}"/>
              </a:ext>
            </a:extLst>
          </p:cNvPr>
          <p:cNvGraphicFramePr>
            <a:graphicFrameLocks noGrp="1"/>
          </p:cNvGraphicFramePr>
          <p:nvPr>
            <p:extLst>
              <p:ext uri="{D42A27DB-BD31-4B8C-83A1-F6EECF244321}">
                <p14:modId xmlns:p14="http://schemas.microsoft.com/office/powerpoint/2010/main" val="1020057039"/>
              </p:ext>
            </p:extLst>
          </p:nvPr>
        </p:nvGraphicFramePr>
        <p:xfrm>
          <a:off x="0" y="745909"/>
          <a:ext cx="9144000" cy="3842419"/>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511584267"/>
                    </a:ext>
                  </a:extLst>
                </a:gridCol>
                <a:gridCol w="2286000">
                  <a:extLst>
                    <a:ext uri="{9D8B030D-6E8A-4147-A177-3AD203B41FA5}">
                      <a16:colId xmlns:a16="http://schemas.microsoft.com/office/drawing/2014/main" val="264706891"/>
                    </a:ext>
                  </a:extLst>
                </a:gridCol>
                <a:gridCol w="2286000">
                  <a:extLst>
                    <a:ext uri="{9D8B030D-6E8A-4147-A177-3AD203B41FA5}">
                      <a16:colId xmlns:a16="http://schemas.microsoft.com/office/drawing/2014/main" val="3728847778"/>
                    </a:ext>
                  </a:extLst>
                </a:gridCol>
                <a:gridCol w="2286000">
                  <a:extLst>
                    <a:ext uri="{9D8B030D-6E8A-4147-A177-3AD203B41FA5}">
                      <a16:colId xmlns:a16="http://schemas.microsoft.com/office/drawing/2014/main" val="2948747073"/>
                    </a:ext>
                  </a:extLst>
                </a:gridCol>
              </a:tblGrid>
              <a:tr h="1223404">
                <a:tc>
                  <a:txBody>
                    <a:bodyPr/>
                    <a:lstStyle/>
                    <a:p>
                      <a:pPr algn="ctr"/>
                      <a:r>
                        <a:rPr lang="en-US" sz="1600" b="0" dirty="0"/>
                        <a:t>TASKS</a:t>
                      </a:r>
                    </a:p>
                  </a:txBody>
                  <a:tcPr marL="0" marR="0" marT="0" marB="0" anchor="ctr"/>
                </a:tc>
                <a:tc>
                  <a:txBody>
                    <a:bodyPr/>
                    <a:lstStyle/>
                    <a:p>
                      <a:pPr algn="ctr"/>
                      <a:r>
                        <a:rPr lang="en-US" sz="1600" b="1" dirty="0"/>
                        <a:t>#eta, patience, tolerance, max units, algorithm, l2_lambda, epochs, mom, (</a:t>
                      </a:r>
                      <a:r>
                        <a:rPr lang="en-US" sz="1600" b="1" dirty="0">
                          <a:solidFill>
                            <a:schemeClr val="accent1">
                              <a:lumMod val="75000"/>
                            </a:schemeClr>
                          </a:solidFill>
                        </a:rPr>
                        <a:t>mu</a:t>
                      </a:r>
                      <a:r>
                        <a:rPr lang="en-US" sz="1600" b="1" dirty="0"/>
                        <a:t>, </a:t>
                      </a:r>
                      <a:r>
                        <a:rPr lang="en-US" sz="1600" b="1" dirty="0">
                          <a:solidFill>
                            <a:srgbClr val="FF0000"/>
                          </a:solidFill>
                        </a:rPr>
                        <a:t>eta plus, eta minus</a:t>
                      </a:r>
                      <a:r>
                        <a:rPr lang="en-US" sz="1600" b="1" dirty="0"/>
                        <a:t>)</a:t>
                      </a:r>
                    </a:p>
                  </a:txBody>
                  <a:tcPr marL="0" marR="0" marT="0" marB="0" anchor="ctr"/>
                </a:tc>
                <a:tc>
                  <a:txBody>
                    <a:bodyPr/>
                    <a:lstStyle/>
                    <a:p>
                      <a:pPr algn="ctr"/>
                      <a:r>
                        <a:rPr lang="en-US" sz="1600" b="1" dirty="0"/>
                        <a:t>MSE (TR/TS)</a:t>
                      </a:r>
                    </a:p>
                  </a:txBody>
                  <a:tcPr marL="0" marR="0" marT="0" marB="0" anchor="ctr"/>
                </a:tc>
                <a:tc>
                  <a:txBody>
                    <a:bodyPr/>
                    <a:lstStyle/>
                    <a:p>
                      <a:pPr algn="ctr"/>
                      <a:r>
                        <a:rPr lang="en-US" sz="1600" b="1" dirty="0"/>
                        <a:t>ACCURACY (TR/TS)</a:t>
                      </a:r>
                    </a:p>
                  </a:txBody>
                  <a:tcPr marL="0" marR="0" marT="0" marB="0" anchor="ctr"/>
                </a:tc>
                <a:extLst>
                  <a:ext uri="{0D108BD9-81ED-4DB2-BD59-A6C34878D82A}">
                    <a16:rowId xmlns:a16="http://schemas.microsoft.com/office/drawing/2014/main" val="1304172566"/>
                  </a:ext>
                </a:extLst>
              </a:tr>
              <a:tr h="1150929">
                <a:tc>
                  <a:txBody>
                    <a:bodyPr/>
                    <a:lstStyle/>
                    <a:p>
                      <a:pPr algn="ctr"/>
                      <a:r>
                        <a:rPr lang="en-US" sz="1600" b="1" dirty="0"/>
                        <a:t>MONK 1</a:t>
                      </a:r>
                    </a:p>
                  </a:txBody>
                  <a:tcPr marL="0" marR="0" marT="0" marB="0" anchor="ctr"/>
                </a:tc>
                <a:tc>
                  <a:txBody>
                    <a:bodyPr/>
                    <a:lstStyle/>
                    <a:p>
                      <a:pPr algn="ctr"/>
                      <a:r>
                        <a:rPr lang="en-US" sz="1600" dirty="0"/>
                        <a:t>0.2, 60, 0.001, 6, Rprop, 0.0, 2000, 0.0, (</a:t>
                      </a:r>
                      <a:r>
                        <a:rPr lang="en-US" sz="1600" dirty="0">
                          <a:solidFill>
                            <a:srgbClr val="FF0000"/>
                          </a:solidFill>
                        </a:rPr>
                        <a:t>1.2, 0.5</a:t>
                      </a:r>
                      <a:r>
                        <a:rPr lang="en-US" sz="1600" dirty="0"/>
                        <a:t>)</a:t>
                      </a:r>
                    </a:p>
                  </a:txBody>
                  <a:tcPr marL="0" marR="0" marT="0" marB="0" anchor="ctr"/>
                </a:tc>
                <a:tc>
                  <a:txBody>
                    <a:bodyPr/>
                    <a:lstStyle/>
                    <a:p>
                      <a:pPr algn="ctr"/>
                      <a:r>
                        <a:rPr lang="en-US" sz="1600" dirty="0"/>
                        <a:t>0.000290/0.001123</a:t>
                      </a:r>
                    </a:p>
                  </a:txBody>
                  <a:tcPr marL="0" marR="0" marT="0" marB="0" anchor="ctr"/>
                </a:tc>
                <a:tc>
                  <a:txBody>
                    <a:bodyPr/>
                    <a:lstStyle/>
                    <a:p>
                      <a:pPr algn="ctr"/>
                      <a:r>
                        <a:rPr lang="en-US" sz="1600" dirty="0"/>
                        <a:t>100%/100%</a:t>
                      </a:r>
                    </a:p>
                  </a:txBody>
                  <a:tcPr marL="0" marR="0" marT="0" marB="0" anchor="ctr"/>
                </a:tc>
                <a:extLst>
                  <a:ext uri="{0D108BD9-81ED-4DB2-BD59-A6C34878D82A}">
                    <a16:rowId xmlns:a16="http://schemas.microsoft.com/office/drawing/2014/main" val="3679836165"/>
                  </a:ext>
                </a:extLst>
              </a:tr>
              <a:tr h="734043">
                <a:tc>
                  <a:txBody>
                    <a:bodyPr/>
                    <a:lstStyle/>
                    <a:p>
                      <a:pPr algn="ctr"/>
                      <a:r>
                        <a:rPr lang="en-US" sz="1600" b="1" dirty="0"/>
                        <a:t>MONK 2</a:t>
                      </a:r>
                    </a:p>
                  </a:txBody>
                  <a:tcPr marL="0" marR="0" marT="0" marB="0" anchor="ctr"/>
                </a:tc>
                <a:tc>
                  <a:txBody>
                    <a:bodyPr/>
                    <a:lstStyle/>
                    <a:p>
                      <a:pPr algn="ctr"/>
                      <a:r>
                        <a:rPr lang="en-US" sz="1600" dirty="0"/>
                        <a:t>0.24, 60, 0.001, 6, QuickProp, 0.001, 2000, 0.0 (</a:t>
                      </a:r>
                      <a:r>
                        <a:rPr lang="en-US" sz="1600" dirty="0">
                          <a:solidFill>
                            <a:schemeClr val="accent1">
                              <a:lumMod val="75000"/>
                            </a:schemeClr>
                          </a:solidFill>
                        </a:rPr>
                        <a:t>1.5</a:t>
                      </a:r>
                      <a:r>
                        <a:rPr lang="en-US" sz="1600" dirty="0">
                          <a:solidFill>
                            <a:schemeClr val="tx1"/>
                          </a:solidFill>
                        </a:rPr>
                        <a:t>)</a:t>
                      </a:r>
                    </a:p>
                  </a:txBody>
                  <a:tcPr marL="0" marR="0" marT="0" marB="0" anchor="ctr"/>
                </a:tc>
                <a:tc>
                  <a:txBody>
                    <a:bodyPr/>
                    <a:lstStyle/>
                    <a:p>
                      <a:pPr algn="ctr"/>
                      <a:r>
                        <a:rPr lang="en-US" sz="1600" dirty="0"/>
                        <a:t>0.000150/0.000160</a:t>
                      </a:r>
                    </a:p>
                  </a:txBody>
                  <a:tcPr marL="0" marR="0" marT="0" marB="0" anchor="ctr"/>
                </a:tc>
                <a:tc>
                  <a:txBody>
                    <a:bodyPr/>
                    <a:lstStyle/>
                    <a:p>
                      <a:pPr algn="ctr"/>
                      <a:r>
                        <a:rPr lang="en-US" sz="1600" dirty="0"/>
                        <a:t>100%/100%</a:t>
                      </a:r>
                    </a:p>
                  </a:txBody>
                  <a:tcPr marL="0" marR="0" marT="0" marB="0" anchor="ctr"/>
                </a:tc>
                <a:extLst>
                  <a:ext uri="{0D108BD9-81ED-4DB2-BD59-A6C34878D82A}">
                    <a16:rowId xmlns:a16="http://schemas.microsoft.com/office/drawing/2014/main" val="3503399297"/>
                  </a:ext>
                </a:extLst>
              </a:tr>
              <a:tr h="734043">
                <a:tc>
                  <a:txBody>
                    <a:bodyPr/>
                    <a:lstStyle/>
                    <a:p>
                      <a:pPr algn="ctr"/>
                      <a:r>
                        <a:rPr lang="en-US" sz="1600" b="1" dirty="0"/>
                        <a:t>MONK 3</a:t>
                      </a:r>
                    </a:p>
                  </a:txBody>
                  <a:tcPr marL="0" marR="0" marT="0" marB="0" anchor="ctr"/>
                </a:tc>
                <a:tc>
                  <a:txBody>
                    <a:bodyPr/>
                    <a:lstStyle/>
                    <a:p>
                      <a:pPr algn="ctr"/>
                      <a:r>
                        <a:rPr lang="en-US" sz="1600" dirty="0"/>
                        <a:t>0.01, 30, 0.03, 2, 0.1, QuickProp, 2000, 0.0 (</a:t>
                      </a:r>
                      <a:r>
                        <a:rPr lang="en-US" sz="1600" dirty="0">
                          <a:solidFill>
                            <a:schemeClr val="accent1">
                              <a:lumMod val="75000"/>
                            </a:schemeClr>
                          </a:solidFill>
                        </a:rPr>
                        <a:t>1.5</a:t>
                      </a:r>
                      <a:r>
                        <a:rPr lang="en-US" sz="1600" dirty="0"/>
                        <a:t>)</a:t>
                      </a:r>
                    </a:p>
                  </a:txBody>
                  <a:tcPr marL="0" marR="0" marT="0" marB="0" anchor="ctr"/>
                </a:tc>
                <a:tc>
                  <a:txBody>
                    <a:bodyPr/>
                    <a:lstStyle/>
                    <a:p>
                      <a:pPr algn="ctr"/>
                      <a:r>
                        <a:rPr lang="en-US" sz="1600" dirty="0"/>
                        <a:t>0.062535/0.054864</a:t>
                      </a:r>
                    </a:p>
                  </a:txBody>
                  <a:tcPr marL="0" marR="0" marT="0" marB="0" anchor="ctr"/>
                </a:tc>
                <a:tc>
                  <a:txBody>
                    <a:bodyPr/>
                    <a:lstStyle/>
                    <a:p>
                      <a:pPr algn="ctr"/>
                      <a:r>
                        <a:rPr lang="en-US" sz="1600" dirty="0"/>
                        <a:t>91%/96%</a:t>
                      </a:r>
                    </a:p>
                  </a:txBody>
                  <a:tcPr marL="0" marR="0" marT="0" marB="0" anchor="ctr"/>
                </a:tc>
                <a:extLst>
                  <a:ext uri="{0D108BD9-81ED-4DB2-BD59-A6C34878D82A}">
                    <a16:rowId xmlns:a16="http://schemas.microsoft.com/office/drawing/2014/main" val="2207570152"/>
                  </a:ext>
                </a:extLst>
              </a:tr>
            </a:tbl>
          </a:graphicData>
        </a:graphic>
      </p:graphicFrame>
      <p:sp>
        <p:nvSpPr>
          <p:cNvPr id="3" name="CasellaDiTesto 2">
            <a:extLst>
              <a:ext uri="{FF2B5EF4-FFF2-40B4-BE49-F238E27FC236}">
                <a16:creationId xmlns:a16="http://schemas.microsoft.com/office/drawing/2014/main" id="{B6B74B60-4C30-B6AE-5F85-0F3B25FDA135}"/>
              </a:ext>
            </a:extLst>
          </p:cNvPr>
          <p:cNvSpPr txBox="1"/>
          <p:nvPr/>
        </p:nvSpPr>
        <p:spPr>
          <a:xfrm>
            <a:off x="311700" y="4663217"/>
            <a:ext cx="8520600" cy="307777"/>
          </a:xfrm>
          <a:prstGeom prst="rect">
            <a:avLst/>
          </a:prstGeom>
          <a:noFill/>
        </p:spPr>
        <p:txBody>
          <a:bodyPr wrap="square" rtlCol="0">
            <a:spAutoFit/>
          </a:bodyPr>
          <a:lstStyle/>
          <a:p>
            <a:pPr algn="ctr"/>
            <a:r>
              <a:rPr lang="en-US" b="1" dirty="0"/>
              <a:t>Table 8.</a:t>
            </a:r>
            <a:r>
              <a:rPr lang="en-US" dirty="0"/>
              <a:t> Average prediction results obtained for the MONK’s tasks.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39285"/>
              <a:buFont typeface="Arial"/>
              <a:buNone/>
            </a:pPr>
            <a:r>
              <a:rPr lang="it" sz="3300" b="1" dirty="0"/>
              <a:t>CC - Monk-1 learning curves </a:t>
            </a:r>
            <a:endParaRPr sz="3300" b="1" dirty="0"/>
          </a:p>
          <a:p>
            <a:pPr marL="0" lvl="0" indent="0" algn="l" rtl="0">
              <a:lnSpc>
                <a:spcPct val="100000"/>
              </a:lnSpc>
              <a:spcBef>
                <a:spcPts val="0"/>
              </a:spcBef>
              <a:spcAft>
                <a:spcPts val="0"/>
              </a:spcAft>
              <a:buSzPct val="111111"/>
              <a:buNone/>
            </a:pPr>
            <a:endParaRPr dirty="0"/>
          </a:p>
        </p:txBody>
      </p:sp>
      <p:sp>
        <p:nvSpPr>
          <p:cNvPr id="99" name="Google Shape;99;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it"/>
              <a:t>18</a:t>
            </a:fld>
            <a:endParaRPr/>
          </a:p>
        </p:txBody>
      </p:sp>
      <p:pic>
        <p:nvPicPr>
          <p:cNvPr id="3" name="Immagine 2" descr="Immagine che contiene testo, Diagramma, diagramma, linea&#10;&#10;Il contenuto generato dall'IA potrebbe non essere corretto.">
            <a:extLst>
              <a:ext uri="{FF2B5EF4-FFF2-40B4-BE49-F238E27FC236}">
                <a16:creationId xmlns:a16="http://schemas.microsoft.com/office/drawing/2014/main" id="{70F67CA9-C941-4CD2-A77D-A55DC9692FA2}"/>
              </a:ext>
            </a:extLst>
          </p:cNvPr>
          <p:cNvPicPr>
            <a:picLocks noChangeAspect="1"/>
          </p:cNvPicPr>
          <p:nvPr/>
        </p:nvPicPr>
        <p:blipFill>
          <a:blip r:embed="rId3"/>
          <a:stretch>
            <a:fillRect/>
          </a:stretch>
        </p:blipFill>
        <p:spPr>
          <a:xfrm>
            <a:off x="0" y="1075049"/>
            <a:ext cx="9144000" cy="2993401"/>
          </a:xfrm>
          <a:prstGeom prst="rect">
            <a:avLst/>
          </a:prstGeom>
        </p:spPr>
      </p:pic>
      <p:sp>
        <p:nvSpPr>
          <p:cNvPr id="4" name="CasellaDiTesto 3">
            <a:extLst>
              <a:ext uri="{FF2B5EF4-FFF2-40B4-BE49-F238E27FC236}">
                <a16:creationId xmlns:a16="http://schemas.microsoft.com/office/drawing/2014/main" id="{04F4B63E-104C-7C05-2AAA-89BF3D18E0EA}"/>
              </a:ext>
            </a:extLst>
          </p:cNvPr>
          <p:cNvSpPr txBox="1"/>
          <p:nvPr/>
        </p:nvSpPr>
        <p:spPr>
          <a:xfrm>
            <a:off x="0" y="4068450"/>
            <a:ext cx="9143999" cy="307777"/>
          </a:xfrm>
          <a:prstGeom prst="rect">
            <a:avLst/>
          </a:prstGeom>
          <a:noFill/>
        </p:spPr>
        <p:txBody>
          <a:bodyPr wrap="square" rtlCol="0">
            <a:spAutoFit/>
          </a:bodyPr>
          <a:lstStyle/>
          <a:p>
            <a:pPr algn="ctr"/>
            <a:r>
              <a:rPr lang="en-US" b="1" dirty="0"/>
              <a:t>Figure 2. </a:t>
            </a:r>
            <a:r>
              <a:rPr lang="en-US" dirty="0"/>
              <a:t>Plot of the Learning Curve and accuracy obtained on Monk 1 with Cascade Correlation.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4B88B1A-3460-C06F-5CDF-7FF98A6C7361}"/>
              </a:ext>
            </a:extLst>
          </p:cNvPr>
          <p:cNvSpPr>
            <a:spLocks noGrp="1"/>
          </p:cNvSpPr>
          <p:nvPr>
            <p:ph type="title"/>
          </p:nvPr>
        </p:nvSpPr>
        <p:spPr/>
        <p:txBody>
          <a:bodyPr>
            <a:noAutofit/>
          </a:bodyPr>
          <a:lstStyle/>
          <a:p>
            <a:r>
              <a:rPr lang="en-US" sz="3000" b="1" dirty="0"/>
              <a:t>CC - Monk-2 learning curves </a:t>
            </a:r>
          </a:p>
        </p:txBody>
      </p:sp>
      <p:sp>
        <p:nvSpPr>
          <p:cNvPr id="4" name="Segnaposto numero diapositiva 3">
            <a:extLst>
              <a:ext uri="{FF2B5EF4-FFF2-40B4-BE49-F238E27FC236}">
                <a16:creationId xmlns:a16="http://schemas.microsoft.com/office/drawing/2014/main" id="{C1FF254B-68F1-3F7D-5A50-8209198FE1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19</a:t>
            </a:fld>
            <a:endParaRPr lang="it-IT"/>
          </a:p>
        </p:txBody>
      </p:sp>
      <p:sp>
        <p:nvSpPr>
          <p:cNvPr id="7" name="CasellaDiTesto 6">
            <a:extLst>
              <a:ext uri="{FF2B5EF4-FFF2-40B4-BE49-F238E27FC236}">
                <a16:creationId xmlns:a16="http://schemas.microsoft.com/office/drawing/2014/main" id="{517F3160-175F-9C94-46B3-0AFE6299A9E1}"/>
              </a:ext>
            </a:extLst>
          </p:cNvPr>
          <p:cNvSpPr txBox="1"/>
          <p:nvPr/>
        </p:nvSpPr>
        <p:spPr>
          <a:xfrm>
            <a:off x="0" y="4068450"/>
            <a:ext cx="9143999" cy="307777"/>
          </a:xfrm>
          <a:prstGeom prst="rect">
            <a:avLst/>
          </a:prstGeom>
          <a:noFill/>
        </p:spPr>
        <p:txBody>
          <a:bodyPr wrap="square" rtlCol="0">
            <a:spAutoFit/>
          </a:bodyPr>
          <a:lstStyle/>
          <a:p>
            <a:pPr algn="ctr"/>
            <a:r>
              <a:rPr lang="en-US" b="1" dirty="0"/>
              <a:t>Figure 3. </a:t>
            </a:r>
            <a:r>
              <a:rPr lang="en-US" dirty="0"/>
              <a:t>Plot of the Learning Curve and accuracy obtained on Monk 2 with Cascade Correlation.</a:t>
            </a:r>
          </a:p>
        </p:txBody>
      </p:sp>
      <p:pic>
        <p:nvPicPr>
          <p:cNvPr id="9" name="Immagine 8">
            <a:extLst>
              <a:ext uri="{FF2B5EF4-FFF2-40B4-BE49-F238E27FC236}">
                <a16:creationId xmlns:a16="http://schemas.microsoft.com/office/drawing/2014/main" id="{2403EB7F-970B-B139-9163-B168104ADF4A}"/>
              </a:ext>
            </a:extLst>
          </p:cNvPr>
          <p:cNvPicPr>
            <a:picLocks noChangeAspect="1"/>
          </p:cNvPicPr>
          <p:nvPr/>
        </p:nvPicPr>
        <p:blipFill>
          <a:blip r:embed="rId2"/>
          <a:stretch>
            <a:fillRect/>
          </a:stretch>
        </p:blipFill>
        <p:spPr>
          <a:xfrm>
            <a:off x="0" y="1075049"/>
            <a:ext cx="9144000" cy="2993401"/>
          </a:xfrm>
          <a:prstGeom prst="rect">
            <a:avLst/>
          </a:prstGeom>
        </p:spPr>
      </p:pic>
    </p:spTree>
    <p:extLst>
      <p:ext uri="{BB962C8B-B14F-4D97-AF65-F5344CB8AC3E}">
        <p14:creationId xmlns:p14="http://schemas.microsoft.com/office/powerpoint/2010/main" val="4078983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DEFD25B-ED76-20A3-6098-FBD7BA7BD9F5}"/>
              </a:ext>
            </a:extLst>
          </p:cNvPr>
          <p:cNvSpPr>
            <a:spLocks noGrp="1"/>
          </p:cNvSpPr>
          <p:nvPr>
            <p:ph type="title"/>
          </p:nvPr>
        </p:nvSpPr>
        <p:spPr/>
        <p:txBody>
          <a:bodyPr>
            <a:noAutofit/>
          </a:bodyPr>
          <a:lstStyle/>
          <a:p>
            <a:r>
              <a:rPr lang="en-US" sz="3000" b="1" dirty="0"/>
              <a:t>CC - Monk-3 learning curves</a:t>
            </a:r>
          </a:p>
        </p:txBody>
      </p:sp>
      <p:sp>
        <p:nvSpPr>
          <p:cNvPr id="4" name="Segnaposto numero diapositiva 3">
            <a:extLst>
              <a:ext uri="{FF2B5EF4-FFF2-40B4-BE49-F238E27FC236}">
                <a16:creationId xmlns:a16="http://schemas.microsoft.com/office/drawing/2014/main" id="{CFCB091D-2495-A1B8-EC37-AFFE61453B5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20</a:t>
            </a:fld>
            <a:endParaRPr lang="it-IT"/>
          </a:p>
        </p:txBody>
      </p:sp>
      <p:pic>
        <p:nvPicPr>
          <p:cNvPr id="5" name="Immagine 4" descr="Immagine che contiene testo, schermata, diagramma, linea&#10;&#10;Il contenuto generato dall'IA potrebbe non essere corretto.">
            <a:extLst>
              <a:ext uri="{FF2B5EF4-FFF2-40B4-BE49-F238E27FC236}">
                <a16:creationId xmlns:a16="http://schemas.microsoft.com/office/drawing/2014/main" id="{7B0CF6BC-0463-EDE3-6781-F8BDA6E1CD6A}"/>
              </a:ext>
            </a:extLst>
          </p:cNvPr>
          <p:cNvPicPr>
            <a:picLocks noChangeAspect="1"/>
          </p:cNvPicPr>
          <p:nvPr/>
        </p:nvPicPr>
        <p:blipFill>
          <a:blip r:embed="rId2"/>
          <a:stretch>
            <a:fillRect/>
          </a:stretch>
        </p:blipFill>
        <p:spPr>
          <a:xfrm>
            <a:off x="0" y="1075049"/>
            <a:ext cx="9144000" cy="2993401"/>
          </a:xfrm>
          <a:prstGeom prst="rect">
            <a:avLst/>
          </a:prstGeom>
        </p:spPr>
      </p:pic>
      <p:sp>
        <p:nvSpPr>
          <p:cNvPr id="8" name="CasellaDiTesto 7">
            <a:extLst>
              <a:ext uri="{FF2B5EF4-FFF2-40B4-BE49-F238E27FC236}">
                <a16:creationId xmlns:a16="http://schemas.microsoft.com/office/drawing/2014/main" id="{CCE863F6-C2AC-37F6-1C49-83A8DAA88830}"/>
              </a:ext>
            </a:extLst>
          </p:cNvPr>
          <p:cNvSpPr txBox="1"/>
          <p:nvPr/>
        </p:nvSpPr>
        <p:spPr>
          <a:xfrm>
            <a:off x="0" y="4068450"/>
            <a:ext cx="9143999" cy="307777"/>
          </a:xfrm>
          <a:prstGeom prst="rect">
            <a:avLst/>
          </a:prstGeom>
          <a:noFill/>
        </p:spPr>
        <p:txBody>
          <a:bodyPr wrap="square" rtlCol="0">
            <a:spAutoFit/>
          </a:bodyPr>
          <a:lstStyle/>
          <a:p>
            <a:pPr algn="ctr"/>
            <a:r>
              <a:rPr lang="en-US" b="1" dirty="0"/>
              <a:t>Figure 4. </a:t>
            </a:r>
            <a:r>
              <a:rPr lang="en-US" dirty="0"/>
              <a:t>Plot of the Learning Curve and accuracy obtained on Monk 3 with Cascade Correlation.</a:t>
            </a:r>
          </a:p>
        </p:txBody>
      </p:sp>
    </p:spTree>
    <p:extLst>
      <p:ext uri="{BB962C8B-B14F-4D97-AF65-F5344CB8AC3E}">
        <p14:creationId xmlns:p14="http://schemas.microsoft.com/office/powerpoint/2010/main" val="4260010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00966B-DDE5-E329-DA23-75BBB105ACDA}"/>
              </a:ext>
            </a:extLst>
          </p:cNvPr>
          <p:cNvSpPr>
            <a:spLocks noGrp="1"/>
          </p:cNvSpPr>
          <p:nvPr>
            <p:ph type="title"/>
          </p:nvPr>
        </p:nvSpPr>
        <p:spPr/>
        <p:txBody>
          <a:bodyPr>
            <a:noAutofit/>
          </a:bodyPr>
          <a:lstStyle/>
          <a:p>
            <a:r>
              <a:rPr lang="en-US" sz="3000" b="1" dirty="0"/>
              <a:t>ANN – CUP results</a:t>
            </a:r>
          </a:p>
        </p:txBody>
      </p:sp>
      <p:sp>
        <p:nvSpPr>
          <p:cNvPr id="4" name="Segnaposto numero diapositiva 3">
            <a:extLst>
              <a:ext uri="{FF2B5EF4-FFF2-40B4-BE49-F238E27FC236}">
                <a16:creationId xmlns:a16="http://schemas.microsoft.com/office/drawing/2014/main" id="{5E81D6D4-5082-F966-B93A-E314E05F7E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21</a:t>
            </a:fld>
            <a:endParaRPr lang="it-IT"/>
          </a:p>
        </p:txBody>
      </p:sp>
      <p:pic>
        <p:nvPicPr>
          <p:cNvPr id="6" name="Immagine 5">
            <a:extLst>
              <a:ext uri="{FF2B5EF4-FFF2-40B4-BE49-F238E27FC236}">
                <a16:creationId xmlns:a16="http://schemas.microsoft.com/office/drawing/2014/main" id="{54CA2F4B-1A66-2D94-F954-F1E1605714A2}"/>
              </a:ext>
            </a:extLst>
          </p:cNvPr>
          <p:cNvPicPr>
            <a:picLocks noChangeAspect="1"/>
          </p:cNvPicPr>
          <p:nvPr/>
        </p:nvPicPr>
        <p:blipFill>
          <a:blip r:embed="rId2"/>
          <a:stretch>
            <a:fillRect/>
          </a:stretch>
        </p:blipFill>
        <p:spPr>
          <a:xfrm>
            <a:off x="215676" y="1078425"/>
            <a:ext cx="8712648" cy="666784"/>
          </a:xfrm>
          <a:prstGeom prst="rect">
            <a:avLst/>
          </a:prstGeom>
        </p:spPr>
      </p:pic>
      <p:sp>
        <p:nvSpPr>
          <p:cNvPr id="7" name="CasellaDiTesto 6">
            <a:extLst>
              <a:ext uri="{FF2B5EF4-FFF2-40B4-BE49-F238E27FC236}">
                <a16:creationId xmlns:a16="http://schemas.microsoft.com/office/drawing/2014/main" id="{5F131A4E-68BF-AB34-4A9D-D5FCA38C54FA}"/>
              </a:ext>
            </a:extLst>
          </p:cNvPr>
          <p:cNvSpPr txBox="1"/>
          <p:nvPr/>
        </p:nvSpPr>
        <p:spPr>
          <a:xfrm>
            <a:off x="0" y="1805909"/>
            <a:ext cx="9143999" cy="307777"/>
          </a:xfrm>
          <a:prstGeom prst="rect">
            <a:avLst/>
          </a:prstGeom>
          <a:noFill/>
        </p:spPr>
        <p:txBody>
          <a:bodyPr wrap="square" rtlCol="0">
            <a:spAutoFit/>
          </a:bodyPr>
          <a:lstStyle/>
          <a:p>
            <a:pPr algn="ctr"/>
            <a:r>
              <a:rPr lang="en-US" b="1" dirty="0"/>
              <a:t>Table 9. </a:t>
            </a:r>
            <a:r>
              <a:rPr lang="en-US" dirty="0"/>
              <a:t>Average predictions results for the CUP's task.</a:t>
            </a:r>
          </a:p>
        </p:txBody>
      </p:sp>
      <p:graphicFrame>
        <p:nvGraphicFramePr>
          <p:cNvPr id="8" name="Tabella 7">
            <a:extLst>
              <a:ext uri="{FF2B5EF4-FFF2-40B4-BE49-F238E27FC236}">
                <a16:creationId xmlns:a16="http://schemas.microsoft.com/office/drawing/2014/main" id="{553F11AE-F306-035A-81A3-A0BF74BA88EC}"/>
              </a:ext>
            </a:extLst>
          </p:cNvPr>
          <p:cNvGraphicFramePr>
            <a:graphicFrameLocks noGrp="1"/>
          </p:cNvGraphicFramePr>
          <p:nvPr>
            <p:extLst>
              <p:ext uri="{D42A27DB-BD31-4B8C-83A1-F6EECF244321}">
                <p14:modId xmlns:p14="http://schemas.microsoft.com/office/powerpoint/2010/main" val="505373070"/>
              </p:ext>
            </p:extLst>
          </p:nvPr>
        </p:nvGraphicFramePr>
        <p:xfrm>
          <a:off x="215676" y="2288135"/>
          <a:ext cx="8712648" cy="2470132"/>
        </p:xfrm>
        <a:graphic>
          <a:graphicData uri="http://schemas.openxmlformats.org/drawingml/2006/table">
            <a:tbl>
              <a:tblPr firstRow="1" bandRow="1">
                <a:tableStyleId>{5940675A-B579-460E-94D1-54222C63F5DA}</a:tableStyleId>
              </a:tblPr>
              <a:tblGrid>
                <a:gridCol w="4356324">
                  <a:extLst>
                    <a:ext uri="{9D8B030D-6E8A-4147-A177-3AD203B41FA5}">
                      <a16:colId xmlns:a16="http://schemas.microsoft.com/office/drawing/2014/main" val="3067829860"/>
                    </a:ext>
                  </a:extLst>
                </a:gridCol>
                <a:gridCol w="4356324">
                  <a:extLst>
                    <a:ext uri="{9D8B030D-6E8A-4147-A177-3AD203B41FA5}">
                      <a16:colId xmlns:a16="http://schemas.microsoft.com/office/drawing/2014/main" val="3708121050"/>
                    </a:ext>
                  </a:extLst>
                </a:gridCol>
              </a:tblGrid>
              <a:tr h="556065">
                <a:tc>
                  <a:txBody>
                    <a:bodyPr/>
                    <a:lstStyle/>
                    <a:p>
                      <a:pPr algn="ctr"/>
                      <a:r>
                        <a:rPr lang="en-US" b="1" dirty="0"/>
                        <a:t>MSE</a:t>
                      </a:r>
                    </a:p>
                  </a:txBody>
                  <a:tcPr/>
                </a:tc>
                <a:tc>
                  <a:txBody>
                    <a:bodyPr/>
                    <a:lstStyle/>
                    <a:p>
                      <a:pPr algn="ctr"/>
                      <a:r>
                        <a:rPr lang="en-US" b="1" dirty="0"/>
                        <a:t>MEE</a:t>
                      </a:r>
                    </a:p>
                  </a:txBody>
                  <a:tcPr/>
                </a:tc>
                <a:extLst>
                  <a:ext uri="{0D108BD9-81ED-4DB2-BD59-A6C34878D82A}">
                    <a16:rowId xmlns:a16="http://schemas.microsoft.com/office/drawing/2014/main" val="620895849"/>
                  </a:ext>
                </a:extLst>
              </a:tr>
              <a:tr h="1914067">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686770239"/>
                  </a:ext>
                </a:extLst>
              </a:tr>
            </a:tbl>
          </a:graphicData>
        </a:graphic>
      </p:graphicFrame>
      <p:pic>
        <p:nvPicPr>
          <p:cNvPr id="10" name="Immagine 9" descr="Immagine che contiene schermata, linea, Diagramma, diagramma&#10;&#10;Il contenuto generato dall'IA potrebbe non essere corretto.">
            <a:extLst>
              <a:ext uri="{FF2B5EF4-FFF2-40B4-BE49-F238E27FC236}">
                <a16:creationId xmlns:a16="http://schemas.microsoft.com/office/drawing/2014/main" id="{6F3DEBF9-30DA-0B5A-6290-17E5807E51C1}"/>
              </a:ext>
            </a:extLst>
          </p:cNvPr>
          <p:cNvPicPr>
            <a:picLocks noChangeAspect="1"/>
          </p:cNvPicPr>
          <p:nvPr/>
        </p:nvPicPr>
        <p:blipFill>
          <a:blip r:embed="rId3"/>
          <a:stretch>
            <a:fillRect/>
          </a:stretch>
        </p:blipFill>
        <p:spPr>
          <a:xfrm>
            <a:off x="647479" y="2881176"/>
            <a:ext cx="3484257" cy="1870669"/>
          </a:xfrm>
          <a:prstGeom prst="rect">
            <a:avLst/>
          </a:prstGeom>
        </p:spPr>
      </p:pic>
      <p:pic>
        <p:nvPicPr>
          <p:cNvPr id="12" name="Immagine 11" descr="Immagine che contiene schermata, linea, Diagramma, diagramma&#10;&#10;Il contenuto generato dall'IA potrebbe non essere corretto.">
            <a:extLst>
              <a:ext uri="{FF2B5EF4-FFF2-40B4-BE49-F238E27FC236}">
                <a16:creationId xmlns:a16="http://schemas.microsoft.com/office/drawing/2014/main" id="{65B2A736-AE4C-BB3F-31A4-D66EF7B41F6E}"/>
              </a:ext>
            </a:extLst>
          </p:cNvPr>
          <p:cNvPicPr>
            <a:picLocks noChangeAspect="1"/>
          </p:cNvPicPr>
          <p:nvPr/>
        </p:nvPicPr>
        <p:blipFill>
          <a:blip r:embed="rId4"/>
          <a:stretch>
            <a:fillRect/>
          </a:stretch>
        </p:blipFill>
        <p:spPr>
          <a:xfrm>
            <a:off x="5012265" y="2881176"/>
            <a:ext cx="3572934" cy="1866757"/>
          </a:xfrm>
          <a:prstGeom prst="rect">
            <a:avLst/>
          </a:prstGeom>
        </p:spPr>
      </p:pic>
      <p:sp>
        <p:nvSpPr>
          <p:cNvPr id="13" name="CasellaDiTesto 12">
            <a:extLst>
              <a:ext uri="{FF2B5EF4-FFF2-40B4-BE49-F238E27FC236}">
                <a16:creationId xmlns:a16="http://schemas.microsoft.com/office/drawing/2014/main" id="{F5826D7C-FEE6-1E4C-670E-BC30FBDABF62}"/>
              </a:ext>
            </a:extLst>
          </p:cNvPr>
          <p:cNvSpPr txBox="1"/>
          <p:nvPr/>
        </p:nvSpPr>
        <p:spPr>
          <a:xfrm>
            <a:off x="215676" y="4770731"/>
            <a:ext cx="9143999" cy="307777"/>
          </a:xfrm>
          <a:prstGeom prst="rect">
            <a:avLst/>
          </a:prstGeom>
          <a:noFill/>
        </p:spPr>
        <p:txBody>
          <a:bodyPr wrap="square" rtlCol="0">
            <a:spAutoFit/>
          </a:bodyPr>
          <a:lstStyle/>
          <a:p>
            <a:pPr algn="ctr"/>
            <a:r>
              <a:rPr lang="en-US" b="1" dirty="0"/>
              <a:t>Figure 5. </a:t>
            </a:r>
            <a:r>
              <a:rPr lang="en-US" dirty="0"/>
              <a:t>Plot of MSE loss (TR/VS), MEE loss (TR/VS) the CUP's task.</a:t>
            </a:r>
          </a:p>
        </p:txBody>
      </p:sp>
    </p:spTree>
    <p:extLst>
      <p:ext uri="{BB962C8B-B14F-4D97-AF65-F5344CB8AC3E}">
        <p14:creationId xmlns:p14="http://schemas.microsoft.com/office/powerpoint/2010/main" val="32103483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E2462D7-5B61-3BB0-8DE3-310832E3AD4C}"/>
              </a:ext>
            </a:extLst>
          </p:cNvPr>
          <p:cNvSpPr>
            <a:spLocks noGrp="1"/>
          </p:cNvSpPr>
          <p:nvPr>
            <p:ph type="title"/>
          </p:nvPr>
        </p:nvSpPr>
        <p:spPr>
          <a:xfrm>
            <a:off x="311699" y="191932"/>
            <a:ext cx="8520600" cy="572700"/>
          </a:xfrm>
        </p:spPr>
        <p:txBody>
          <a:bodyPr>
            <a:noAutofit/>
          </a:bodyPr>
          <a:lstStyle/>
          <a:p>
            <a:r>
              <a:rPr lang="en-US" sz="3000" b="1" dirty="0"/>
              <a:t>CC - Final model learning curve</a:t>
            </a:r>
          </a:p>
        </p:txBody>
      </p:sp>
      <p:sp>
        <p:nvSpPr>
          <p:cNvPr id="4" name="Segnaposto numero diapositiva 3">
            <a:extLst>
              <a:ext uri="{FF2B5EF4-FFF2-40B4-BE49-F238E27FC236}">
                <a16:creationId xmlns:a16="http://schemas.microsoft.com/office/drawing/2014/main" id="{97EB40C9-A2F6-2AEF-B946-8994C225936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22</a:t>
            </a:fld>
            <a:endParaRPr lang="it-IT"/>
          </a:p>
        </p:txBody>
      </p:sp>
      <p:pic>
        <p:nvPicPr>
          <p:cNvPr id="6" name="Immagine 5">
            <a:extLst>
              <a:ext uri="{FF2B5EF4-FFF2-40B4-BE49-F238E27FC236}">
                <a16:creationId xmlns:a16="http://schemas.microsoft.com/office/drawing/2014/main" id="{165A6D98-2182-3DA7-80FA-FB6E9C08458C}"/>
              </a:ext>
            </a:extLst>
          </p:cNvPr>
          <p:cNvPicPr>
            <a:picLocks noChangeAspect="1"/>
          </p:cNvPicPr>
          <p:nvPr/>
        </p:nvPicPr>
        <p:blipFill>
          <a:blip r:embed="rId2"/>
          <a:stretch>
            <a:fillRect/>
          </a:stretch>
        </p:blipFill>
        <p:spPr>
          <a:xfrm>
            <a:off x="1693068" y="764632"/>
            <a:ext cx="5757864" cy="3454718"/>
          </a:xfrm>
          <a:prstGeom prst="rect">
            <a:avLst/>
          </a:prstGeom>
        </p:spPr>
      </p:pic>
      <p:sp>
        <p:nvSpPr>
          <p:cNvPr id="7" name="CasellaDiTesto 6">
            <a:extLst>
              <a:ext uri="{FF2B5EF4-FFF2-40B4-BE49-F238E27FC236}">
                <a16:creationId xmlns:a16="http://schemas.microsoft.com/office/drawing/2014/main" id="{DFC8DACC-D3BA-F03D-97B6-204E1637B227}"/>
              </a:ext>
            </a:extLst>
          </p:cNvPr>
          <p:cNvSpPr txBox="1"/>
          <p:nvPr/>
        </p:nvSpPr>
        <p:spPr>
          <a:xfrm>
            <a:off x="644979" y="4187007"/>
            <a:ext cx="7827479" cy="307777"/>
          </a:xfrm>
          <a:prstGeom prst="rect">
            <a:avLst/>
          </a:prstGeom>
          <a:noFill/>
        </p:spPr>
        <p:txBody>
          <a:bodyPr wrap="square" rtlCol="0">
            <a:spAutoFit/>
          </a:bodyPr>
          <a:lstStyle/>
          <a:p>
            <a:pPr algn="ctr"/>
            <a:r>
              <a:rPr lang="en-US" b="1" dirty="0"/>
              <a:t>Figure 6.</a:t>
            </a:r>
            <a:r>
              <a:rPr lang="en-US" dirty="0"/>
              <a:t> Learning curves obtained on CUP regression task with Cascade Correlation.</a:t>
            </a:r>
          </a:p>
        </p:txBody>
      </p:sp>
    </p:spTree>
    <p:extLst>
      <p:ext uri="{BB962C8B-B14F-4D97-AF65-F5344CB8AC3E}">
        <p14:creationId xmlns:p14="http://schemas.microsoft.com/office/powerpoint/2010/main" val="3456629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BE9D6CB-5939-3BBC-49C4-9F83B8E9560B}"/>
              </a:ext>
            </a:extLst>
          </p:cNvPr>
          <p:cNvSpPr>
            <a:spLocks noGrp="1"/>
          </p:cNvSpPr>
          <p:nvPr>
            <p:ph type="title"/>
          </p:nvPr>
        </p:nvSpPr>
        <p:spPr/>
        <p:txBody>
          <a:bodyPr>
            <a:noAutofit/>
          </a:bodyPr>
          <a:lstStyle/>
          <a:p>
            <a:r>
              <a:rPr lang="en-US" sz="3000" b="1" dirty="0"/>
              <a:t>Comparison of training approaches</a:t>
            </a:r>
          </a:p>
        </p:txBody>
      </p:sp>
      <p:sp>
        <p:nvSpPr>
          <p:cNvPr id="3" name="Segnaposto testo 2">
            <a:extLst>
              <a:ext uri="{FF2B5EF4-FFF2-40B4-BE49-F238E27FC236}">
                <a16:creationId xmlns:a16="http://schemas.microsoft.com/office/drawing/2014/main" id="{719E71CF-BE9C-6685-1C2B-849959E99447}"/>
              </a:ext>
            </a:extLst>
          </p:cNvPr>
          <p:cNvSpPr>
            <a:spLocks noGrp="1"/>
          </p:cNvSpPr>
          <p:nvPr>
            <p:ph type="body" idx="1"/>
          </p:nvPr>
        </p:nvSpPr>
        <p:spPr/>
        <p:txBody>
          <a:bodyPr anchor="ctr">
            <a:normAutofit/>
          </a:bodyPr>
          <a:lstStyle/>
          <a:p>
            <a:pPr marL="114300" indent="0">
              <a:buNone/>
            </a:pPr>
            <a:r>
              <a:rPr lang="en-US" sz="1500" u="sng" dirty="0">
                <a:solidFill>
                  <a:schemeClr val="tx1"/>
                </a:solidFill>
              </a:rPr>
              <a:t>Standard backpropagation (SGD + momentum):</a:t>
            </a:r>
          </a:p>
          <a:p>
            <a:pPr>
              <a:buClr>
                <a:schemeClr val="tx1"/>
              </a:buClr>
              <a:buFont typeface="Arial" panose="020B0604020202020204" pitchFamily="34" charset="0"/>
              <a:buChar char="•"/>
            </a:pPr>
            <a:r>
              <a:rPr lang="en-US" sz="1500" dirty="0">
                <a:solidFill>
                  <a:schemeClr val="tx1"/>
                </a:solidFill>
              </a:rPr>
              <a:t>Stable convergence.</a:t>
            </a:r>
          </a:p>
          <a:p>
            <a:pPr>
              <a:buClr>
                <a:schemeClr val="tx1"/>
              </a:buClr>
              <a:buFont typeface="Arial" panose="020B0604020202020204" pitchFamily="34" charset="0"/>
              <a:buChar char="•"/>
            </a:pPr>
            <a:r>
              <a:rPr lang="en-US" sz="1500" dirty="0">
                <a:solidFill>
                  <a:schemeClr val="tx1"/>
                </a:solidFill>
              </a:rPr>
              <a:t>Strong baseline performance.</a:t>
            </a:r>
          </a:p>
          <a:p>
            <a:pPr marL="114300" indent="0">
              <a:buClr>
                <a:schemeClr val="tx1"/>
              </a:buClr>
              <a:buNone/>
            </a:pPr>
            <a:endParaRPr lang="en-US" sz="1500" dirty="0">
              <a:solidFill>
                <a:schemeClr val="tx1"/>
              </a:solidFill>
            </a:endParaRPr>
          </a:p>
          <a:p>
            <a:pPr marL="114300" indent="0">
              <a:buNone/>
            </a:pPr>
            <a:r>
              <a:rPr lang="en-US" sz="1500" u="sng" dirty="0">
                <a:solidFill>
                  <a:schemeClr val="tx1"/>
                </a:solidFill>
              </a:rPr>
              <a:t>Cascade-correlation–inspired approach:</a:t>
            </a:r>
          </a:p>
          <a:p>
            <a:pPr>
              <a:buClr>
                <a:schemeClr val="tx1"/>
              </a:buClr>
              <a:buFont typeface="Arial" panose="020B0604020202020204" pitchFamily="34" charset="0"/>
              <a:buChar char="•"/>
            </a:pPr>
            <a:r>
              <a:rPr lang="en-US" sz="1500" dirty="0">
                <a:solidFill>
                  <a:schemeClr val="tx1"/>
                </a:solidFill>
              </a:rPr>
              <a:t>Different convergence dynamics.</a:t>
            </a:r>
          </a:p>
          <a:p>
            <a:pPr>
              <a:buClr>
                <a:schemeClr val="tx1"/>
              </a:buClr>
              <a:buFont typeface="Arial" panose="020B0604020202020204" pitchFamily="34" charset="0"/>
              <a:buChar char="•"/>
            </a:pPr>
            <a:r>
              <a:rPr lang="en-US" sz="1500" dirty="0">
                <a:solidFill>
                  <a:schemeClr val="tx1"/>
                </a:solidFill>
              </a:rPr>
              <a:t>Competitive validation performance.</a:t>
            </a:r>
          </a:p>
          <a:p>
            <a:pPr>
              <a:buClr>
                <a:schemeClr val="tx1"/>
              </a:buClr>
              <a:buFont typeface="Arial" panose="020B0604020202020204" pitchFamily="34" charset="0"/>
              <a:buChar char="•"/>
            </a:pPr>
            <a:r>
              <a:rPr lang="en-US" sz="1500" dirty="0">
                <a:solidFill>
                  <a:schemeClr val="tx1"/>
                </a:solidFill>
              </a:rPr>
              <a:t>Higher training cost in many configurations.</a:t>
            </a:r>
          </a:p>
          <a:p>
            <a:pPr marL="114300" indent="0">
              <a:buClr>
                <a:schemeClr val="tx1"/>
              </a:buClr>
              <a:buNone/>
            </a:pPr>
            <a:endParaRPr lang="en-US" sz="1500" dirty="0">
              <a:solidFill>
                <a:schemeClr val="tx1"/>
              </a:solidFill>
            </a:endParaRPr>
          </a:p>
          <a:p>
            <a:pPr marL="114300" indent="0">
              <a:buClr>
                <a:schemeClr val="tx1"/>
              </a:buClr>
              <a:buNone/>
            </a:pPr>
            <a:r>
              <a:rPr lang="en-US" sz="1500" dirty="0">
                <a:solidFill>
                  <a:schemeClr val="tx1"/>
                </a:solidFill>
              </a:rPr>
              <a:t>Both approaches achieve comparable generalization when properly regularized.</a:t>
            </a:r>
          </a:p>
        </p:txBody>
      </p:sp>
      <p:sp>
        <p:nvSpPr>
          <p:cNvPr id="4" name="Segnaposto numero diapositiva 3">
            <a:extLst>
              <a:ext uri="{FF2B5EF4-FFF2-40B4-BE49-F238E27FC236}">
                <a16:creationId xmlns:a16="http://schemas.microsoft.com/office/drawing/2014/main" id="{0DDB63CF-5BBA-3C94-4F23-373507C9CF3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23</a:t>
            </a:fld>
            <a:endParaRPr lang="it-IT"/>
          </a:p>
        </p:txBody>
      </p:sp>
    </p:spTree>
    <p:extLst>
      <p:ext uri="{BB962C8B-B14F-4D97-AF65-F5344CB8AC3E}">
        <p14:creationId xmlns:p14="http://schemas.microsoft.com/office/powerpoint/2010/main" val="90870113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48BB9B8-E623-1595-F437-CAD41E04FF44}"/>
              </a:ext>
            </a:extLst>
          </p:cNvPr>
          <p:cNvSpPr>
            <a:spLocks noGrp="1"/>
          </p:cNvSpPr>
          <p:nvPr>
            <p:ph type="title"/>
          </p:nvPr>
        </p:nvSpPr>
        <p:spPr/>
        <p:txBody>
          <a:bodyPr>
            <a:noAutofit/>
          </a:bodyPr>
          <a:lstStyle/>
          <a:p>
            <a:r>
              <a:rPr lang="en-US" sz="3000" b="1" dirty="0"/>
              <a:t>Discussion and conclusions </a:t>
            </a:r>
          </a:p>
        </p:txBody>
      </p:sp>
      <p:sp>
        <p:nvSpPr>
          <p:cNvPr id="3" name="Segnaposto testo 2">
            <a:extLst>
              <a:ext uri="{FF2B5EF4-FFF2-40B4-BE49-F238E27FC236}">
                <a16:creationId xmlns:a16="http://schemas.microsoft.com/office/drawing/2014/main" id="{AE0CB4C3-F3D7-05C4-2E42-0369FF333AEC}"/>
              </a:ext>
            </a:extLst>
          </p:cNvPr>
          <p:cNvSpPr>
            <a:spLocks noGrp="1"/>
          </p:cNvSpPr>
          <p:nvPr>
            <p:ph type="body" idx="1"/>
          </p:nvPr>
        </p:nvSpPr>
        <p:spPr/>
        <p:txBody>
          <a:bodyPr>
            <a:normAutofit/>
          </a:bodyPr>
          <a:lstStyle/>
          <a:p>
            <a:pPr marL="114300" indent="0" algn="just">
              <a:buNone/>
            </a:pPr>
            <a:r>
              <a:rPr lang="en-US" sz="1500" dirty="0">
                <a:solidFill>
                  <a:schemeClr val="tx1"/>
                </a:solidFill>
              </a:rPr>
              <a:t>Regularization is essential for stable generalization on CUP.</a:t>
            </a:r>
          </a:p>
          <a:p>
            <a:pPr marL="114300" indent="0" algn="just">
              <a:buNone/>
            </a:pPr>
            <a:r>
              <a:rPr lang="en-US" sz="1500" dirty="0">
                <a:solidFill>
                  <a:schemeClr val="tx1"/>
                </a:solidFill>
              </a:rPr>
              <a:t>Larger architectures improve expressiveness but increase overfitting risk.</a:t>
            </a:r>
          </a:p>
          <a:p>
            <a:pPr marL="114300" indent="0" algn="just">
              <a:buNone/>
            </a:pPr>
            <a:r>
              <a:rPr lang="en-US" sz="1500" dirty="0">
                <a:solidFill>
                  <a:schemeClr val="tx1"/>
                </a:solidFill>
              </a:rPr>
              <a:t>Random grid search explores the hyperparameter space more efficiently than exhaustive grid search.</a:t>
            </a:r>
          </a:p>
          <a:p>
            <a:pPr marL="114300" indent="0" algn="just">
              <a:buNone/>
            </a:pPr>
            <a:r>
              <a:rPr lang="en-US" sz="1500" dirty="0">
                <a:solidFill>
                  <a:schemeClr val="tx1"/>
                </a:solidFill>
              </a:rPr>
              <a:t>The Cascade Correlation approach identified regularization as the single most critical factor for the Cascade-Correlation architecture on the CUP dataset; without it, the aggressive unit-addition strategy tends to overfit the training noise. Furthermore, while RProp demonstrated faster convergence in early stages, QuickProp provided superior stability as the network depth increased.</a:t>
            </a:r>
          </a:p>
          <a:p>
            <a:pPr marL="0" indent="0" algn="just">
              <a:buNone/>
            </a:pPr>
            <a:endParaRPr lang="en-US" sz="1500" dirty="0">
              <a:solidFill>
                <a:schemeClr val="tx1"/>
              </a:solidFill>
            </a:endParaRPr>
          </a:p>
          <a:p>
            <a:pPr marL="0" indent="0" algn="just">
              <a:buNone/>
            </a:pPr>
            <a:r>
              <a:rPr lang="en-US" sz="1500" u="sng" dirty="0">
                <a:solidFill>
                  <a:schemeClr val="tx1"/>
                </a:solidFill>
              </a:rPr>
              <a:t>Blind Test Results</a:t>
            </a:r>
            <a:r>
              <a:rPr lang="en-US" sz="1500" dirty="0">
                <a:solidFill>
                  <a:schemeClr val="tx1"/>
                </a:solidFill>
              </a:rPr>
              <a:t>: PlusUltra_ML-CUP25-TS.csv</a:t>
            </a:r>
          </a:p>
        </p:txBody>
      </p:sp>
      <p:sp>
        <p:nvSpPr>
          <p:cNvPr id="4" name="Segnaposto numero diapositiva 3">
            <a:extLst>
              <a:ext uri="{FF2B5EF4-FFF2-40B4-BE49-F238E27FC236}">
                <a16:creationId xmlns:a16="http://schemas.microsoft.com/office/drawing/2014/main" id="{5E8FF7AB-E3BF-4AC3-95D3-AFD893055D0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24</a:t>
            </a:fld>
            <a:endParaRPr lang="it-IT"/>
          </a:p>
        </p:txBody>
      </p:sp>
    </p:spTree>
    <p:extLst>
      <p:ext uri="{BB962C8B-B14F-4D97-AF65-F5344CB8AC3E}">
        <p14:creationId xmlns:p14="http://schemas.microsoft.com/office/powerpoint/2010/main" val="16039559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FD41256-E208-EC34-224B-1CE196772FDF}"/>
              </a:ext>
            </a:extLst>
          </p:cNvPr>
          <p:cNvSpPr>
            <a:spLocks noGrp="1"/>
          </p:cNvSpPr>
          <p:nvPr>
            <p:ph type="title"/>
          </p:nvPr>
        </p:nvSpPr>
        <p:spPr/>
        <p:txBody>
          <a:bodyPr>
            <a:noAutofit/>
          </a:bodyPr>
          <a:lstStyle/>
          <a:p>
            <a:r>
              <a:rPr lang="en-US" sz="3000" b="1" dirty="0"/>
              <a:t>Bibliography</a:t>
            </a:r>
          </a:p>
        </p:txBody>
      </p:sp>
      <p:sp>
        <p:nvSpPr>
          <p:cNvPr id="3" name="Segnaposto testo 2">
            <a:extLst>
              <a:ext uri="{FF2B5EF4-FFF2-40B4-BE49-F238E27FC236}">
                <a16:creationId xmlns:a16="http://schemas.microsoft.com/office/drawing/2014/main" id="{C632DBE1-B7B8-79D4-DC7B-5C2921235CDD}"/>
              </a:ext>
            </a:extLst>
          </p:cNvPr>
          <p:cNvSpPr>
            <a:spLocks noGrp="1"/>
          </p:cNvSpPr>
          <p:nvPr>
            <p:ph type="body" idx="1"/>
          </p:nvPr>
        </p:nvSpPr>
        <p:spPr/>
        <p:txBody>
          <a:bodyPr>
            <a:noAutofit/>
          </a:bodyPr>
          <a:lstStyle/>
          <a:p>
            <a:pPr marL="0" indent="0" algn="just">
              <a:buNone/>
            </a:pPr>
            <a:r>
              <a:rPr lang="en-US" sz="1400" b="1" dirty="0">
                <a:solidFill>
                  <a:schemeClr val="tx1"/>
                </a:solidFill>
              </a:rPr>
              <a:t>Barron, J. T. (2019).</a:t>
            </a:r>
            <a:r>
              <a:rPr lang="en-US" sz="1400" dirty="0">
                <a:solidFill>
                  <a:schemeClr val="tx1"/>
                </a:solidFill>
              </a:rPr>
              <a:t> A General and Adaptive Robust Loss Function. </a:t>
            </a:r>
            <a:r>
              <a:rPr lang="en-US" sz="1400" i="1" dirty="0">
                <a:solidFill>
                  <a:schemeClr val="tx1"/>
                </a:solidFill>
              </a:rPr>
              <a:t>Proceedings of the IEEE/CVF Conference on Computer Vision and Pattern Recognition (CVPR)</a:t>
            </a:r>
            <a:r>
              <a:rPr lang="en-US" sz="1400" dirty="0">
                <a:solidFill>
                  <a:schemeClr val="tx1"/>
                </a:solidFill>
              </a:rPr>
              <a:t>, pp. 4331-4340.</a:t>
            </a:r>
          </a:p>
          <a:p>
            <a:pPr marL="0" indent="0" algn="just">
              <a:buNone/>
            </a:pPr>
            <a:r>
              <a:rPr lang="it-IT" sz="1400" b="1" dirty="0" err="1">
                <a:solidFill>
                  <a:schemeClr val="tx1"/>
                </a:solidFill>
              </a:rPr>
              <a:t>Borchani</a:t>
            </a:r>
            <a:r>
              <a:rPr lang="it-IT" sz="1400" b="1" dirty="0">
                <a:solidFill>
                  <a:schemeClr val="tx1"/>
                </a:solidFill>
              </a:rPr>
              <a:t>, H., Varando, G., </a:t>
            </a:r>
            <a:r>
              <a:rPr lang="it-IT" sz="1400" b="1" dirty="0" err="1">
                <a:solidFill>
                  <a:schemeClr val="tx1"/>
                </a:solidFill>
              </a:rPr>
              <a:t>Bielza</a:t>
            </a:r>
            <a:r>
              <a:rPr lang="it-IT" sz="1400" b="1" dirty="0">
                <a:solidFill>
                  <a:schemeClr val="tx1"/>
                </a:solidFill>
              </a:rPr>
              <a:t>, C., &amp; </a:t>
            </a:r>
            <a:r>
              <a:rPr lang="it-IT" sz="1400" b="1" dirty="0" err="1">
                <a:solidFill>
                  <a:schemeClr val="tx1"/>
                </a:solidFill>
              </a:rPr>
              <a:t>Larrañaga</a:t>
            </a:r>
            <a:r>
              <a:rPr lang="it-IT" sz="1400" b="1" dirty="0">
                <a:solidFill>
                  <a:schemeClr val="tx1"/>
                </a:solidFill>
              </a:rPr>
              <a:t>, P. (2015).</a:t>
            </a:r>
            <a:r>
              <a:rPr lang="it-IT" sz="1400" dirty="0">
                <a:solidFill>
                  <a:schemeClr val="tx1"/>
                </a:solidFill>
              </a:rPr>
              <a:t> A survey on multi-output </a:t>
            </a:r>
            <a:r>
              <a:rPr lang="it-IT" sz="1400" dirty="0" err="1">
                <a:solidFill>
                  <a:schemeClr val="tx1"/>
                </a:solidFill>
              </a:rPr>
              <a:t>regression</a:t>
            </a:r>
            <a:r>
              <a:rPr lang="it-IT" sz="1400" dirty="0">
                <a:solidFill>
                  <a:schemeClr val="tx1"/>
                </a:solidFill>
              </a:rPr>
              <a:t>. </a:t>
            </a:r>
            <a:r>
              <a:rPr lang="it-IT" sz="1400" i="1" dirty="0" err="1">
                <a:solidFill>
                  <a:schemeClr val="tx1"/>
                </a:solidFill>
              </a:rPr>
              <a:t>WIREs</a:t>
            </a:r>
            <a:r>
              <a:rPr lang="it-IT" sz="1400" i="1" dirty="0">
                <a:solidFill>
                  <a:schemeClr val="tx1"/>
                </a:solidFill>
              </a:rPr>
              <a:t> Data Mining and Knowledge Discovery</a:t>
            </a:r>
            <a:r>
              <a:rPr lang="it-IT" sz="1400" dirty="0">
                <a:solidFill>
                  <a:schemeClr val="tx1"/>
                </a:solidFill>
              </a:rPr>
              <a:t>, 5(5), 216-233. </a:t>
            </a:r>
          </a:p>
          <a:p>
            <a:pPr marL="0" indent="0" algn="just">
              <a:buNone/>
            </a:pPr>
            <a:r>
              <a:rPr lang="en-US" sz="1400" b="1" dirty="0" err="1">
                <a:solidFill>
                  <a:schemeClr val="tx1"/>
                </a:solidFill>
              </a:rPr>
              <a:t>Elsebach</a:t>
            </a:r>
            <a:r>
              <a:rPr lang="en-US" sz="1400" b="1" dirty="0">
                <a:solidFill>
                  <a:schemeClr val="tx1"/>
                </a:solidFill>
              </a:rPr>
              <a:t>, R. (1994).</a:t>
            </a:r>
            <a:r>
              <a:rPr lang="en-US" sz="1400" dirty="0">
                <a:solidFill>
                  <a:schemeClr val="tx1"/>
                </a:solidFill>
              </a:rPr>
              <a:t> Evaluation of forecasts in AR models with outliers. </a:t>
            </a:r>
            <a:r>
              <a:rPr lang="en-US" sz="1400" i="1" dirty="0">
                <a:solidFill>
                  <a:schemeClr val="tx1"/>
                </a:solidFill>
              </a:rPr>
              <a:t>OR Spectrum</a:t>
            </a:r>
            <a:r>
              <a:rPr lang="en-US" sz="1400" dirty="0">
                <a:solidFill>
                  <a:schemeClr val="tx1"/>
                </a:solidFill>
              </a:rPr>
              <a:t>, 16, 41-45.</a:t>
            </a:r>
          </a:p>
          <a:p>
            <a:pPr marL="0" indent="0" algn="just">
              <a:buNone/>
            </a:pPr>
            <a:r>
              <a:rPr lang="it-IT" altLang="it-IT" sz="1400" b="1" dirty="0" err="1">
                <a:solidFill>
                  <a:schemeClr val="tx1"/>
                </a:solidFill>
                <a:latin typeface="Arial" panose="020B0604020202020204" pitchFamily="34" charset="0"/>
              </a:rPr>
              <a:t>Fahlman</a:t>
            </a:r>
            <a:r>
              <a:rPr lang="it-IT" altLang="it-IT" sz="1400" b="1" dirty="0">
                <a:solidFill>
                  <a:schemeClr val="tx1"/>
                </a:solidFill>
                <a:latin typeface="Arial" panose="020B0604020202020204" pitchFamily="34" charset="0"/>
              </a:rPr>
              <a:t>, S. E. (1988).</a:t>
            </a:r>
            <a:r>
              <a:rPr lang="it-IT" altLang="it-IT" sz="1400" dirty="0">
                <a:solidFill>
                  <a:schemeClr val="tx1"/>
                </a:solidFill>
                <a:latin typeface="Arial" panose="020B0604020202020204" pitchFamily="34" charset="0"/>
              </a:rPr>
              <a:t> An </a:t>
            </a:r>
            <a:r>
              <a:rPr lang="it-IT" altLang="it-IT" sz="1400" dirty="0" err="1">
                <a:solidFill>
                  <a:schemeClr val="tx1"/>
                </a:solidFill>
                <a:latin typeface="Arial" panose="020B0604020202020204" pitchFamily="34" charset="0"/>
              </a:rPr>
              <a:t>Empirical</a:t>
            </a:r>
            <a:r>
              <a:rPr lang="it-IT" altLang="it-IT" sz="1400" dirty="0">
                <a:solidFill>
                  <a:schemeClr val="tx1"/>
                </a:solidFill>
                <a:latin typeface="Arial" panose="020B0604020202020204" pitchFamily="34" charset="0"/>
              </a:rPr>
              <a:t> Study of Learning Speed in Back-</a:t>
            </a:r>
            <a:r>
              <a:rPr lang="it-IT" altLang="it-IT" sz="1400" dirty="0" err="1">
                <a:solidFill>
                  <a:schemeClr val="tx1"/>
                </a:solidFill>
                <a:latin typeface="Arial" panose="020B0604020202020204" pitchFamily="34" charset="0"/>
              </a:rPr>
              <a:t>Propagation</a:t>
            </a:r>
            <a:r>
              <a:rPr lang="it-IT" altLang="it-IT" sz="1400" dirty="0">
                <a:solidFill>
                  <a:schemeClr val="tx1"/>
                </a:solidFill>
                <a:latin typeface="Arial" panose="020B0604020202020204" pitchFamily="34" charset="0"/>
              </a:rPr>
              <a:t> Networks. </a:t>
            </a:r>
            <a:r>
              <a:rPr lang="it-IT" altLang="it-IT" sz="1400" i="1" dirty="0">
                <a:solidFill>
                  <a:schemeClr val="tx1"/>
                </a:solidFill>
                <a:latin typeface="Arial" panose="020B0604020202020204" pitchFamily="34" charset="0"/>
              </a:rPr>
              <a:t>Technical Report CMU-CS-88-1623</a:t>
            </a:r>
            <a:r>
              <a:rPr lang="it-IT" altLang="it-IT" sz="1400" dirty="0">
                <a:solidFill>
                  <a:schemeClr val="tx1"/>
                </a:solidFill>
                <a:latin typeface="Arial" panose="020B0604020202020204" pitchFamily="34" charset="0"/>
              </a:rPr>
              <a:t>, Carnegie Mellon University. </a:t>
            </a:r>
          </a:p>
          <a:p>
            <a:pPr marL="0" indent="0" algn="just">
              <a:buNone/>
            </a:pPr>
            <a:r>
              <a:rPr lang="it-IT" sz="1400" b="1" dirty="0" err="1">
                <a:solidFill>
                  <a:schemeClr val="tx1"/>
                </a:solidFill>
              </a:rPr>
              <a:t>Fahlman</a:t>
            </a:r>
            <a:r>
              <a:rPr lang="it-IT" sz="1400" b="1" dirty="0">
                <a:solidFill>
                  <a:schemeClr val="tx1"/>
                </a:solidFill>
              </a:rPr>
              <a:t>, S. E., &amp; </a:t>
            </a:r>
            <a:r>
              <a:rPr lang="it-IT" sz="1400" b="1" dirty="0" err="1">
                <a:solidFill>
                  <a:schemeClr val="tx1"/>
                </a:solidFill>
              </a:rPr>
              <a:t>Lebiere</a:t>
            </a:r>
            <a:r>
              <a:rPr lang="it-IT" sz="1400" b="1" dirty="0">
                <a:solidFill>
                  <a:schemeClr val="tx1"/>
                </a:solidFill>
              </a:rPr>
              <a:t>, C. (1990).</a:t>
            </a:r>
            <a:r>
              <a:rPr lang="it-IT" sz="1400" dirty="0">
                <a:solidFill>
                  <a:schemeClr val="tx1"/>
                </a:solidFill>
              </a:rPr>
              <a:t> </a:t>
            </a:r>
            <a:r>
              <a:rPr lang="it-IT" sz="1400" i="1" dirty="0">
                <a:solidFill>
                  <a:schemeClr val="tx1"/>
                </a:solidFill>
              </a:rPr>
              <a:t>The </a:t>
            </a:r>
            <a:r>
              <a:rPr lang="it-IT" sz="1400" i="1" dirty="0" err="1">
                <a:solidFill>
                  <a:schemeClr val="tx1"/>
                </a:solidFill>
              </a:rPr>
              <a:t>Cascade-Correlation</a:t>
            </a:r>
            <a:r>
              <a:rPr lang="it-IT" sz="1400" i="1" dirty="0">
                <a:solidFill>
                  <a:schemeClr val="tx1"/>
                </a:solidFill>
              </a:rPr>
              <a:t> Learning Architecture</a:t>
            </a:r>
            <a:r>
              <a:rPr lang="it-IT" sz="1400" dirty="0">
                <a:solidFill>
                  <a:schemeClr val="tx1"/>
                </a:solidFill>
              </a:rPr>
              <a:t>. </a:t>
            </a:r>
            <a:r>
              <a:rPr lang="it-IT" sz="1400" dirty="0" err="1">
                <a:solidFill>
                  <a:schemeClr val="tx1"/>
                </a:solidFill>
              </a:rPr>
              <a:t>Advances</a:t>
            </a:r>
            <a:r>
              <a:rPr lang="it-IT" sz="1400" dirty="0">
                <a:solidFill>
                  <a:schemeClr val="tx1"/>
                </a:solidFill>
              </a:rPr>
              <a:t> in </a:t>
            </a:r>
            <a:r>
              <a:rPr lang="it-IT" sz="1400" dirty="0" err="1">
                <a:solidFill>
                  <a:schemeClr val="tx1"/>
                </a:solidFill>
              </a:rPr>
              <a:t>Neural</a:t>
            </a:r>
            <a:r>
              <a:rPr lang="it-IT" sz="1400" dirty="0">
                <a:solidFill>
                  <a:schemeClr val="tx1"/>
                </a:solidFill>
              </a:rPr>
              <a:t> Information Processing Systems 2 (NIPS 1989), pp. 524-532. Morgan Kaufmann. </a:t>
            </a:r>
            <a:endParaRPr lang="en-US" sz="1400" dirty="0">
              <a:solidFill>
                <a:schemeClr val="tx1"/>
              </a:solidFill>
            </a:endParaRPr>
          </a:p>
          <a:p>
            <a:pPr marL="0" indent="0" algn="just">
              <a:buNone/>
            </a:pPr>
            <a:r>
              <a:rPr lang="it-IT" sz="1400" b="1" dirty="0">
                <a:solidFill>
                  <a:schemeClr val="tx1"/>
                </a:solidFill>
              </a:rPr>
              <a:t>Ghosh, A., Kumar, H., &amp; </a:t>
            </a:r>
            <a:r>
              <a:rPr lang="it-IT" sz="1400" b="1" dirty="0" err="1">
                <a:solidFill>
                  <a:schemeClr val="tx1"/>
                </a:solidFill>
              </a:rPr>
              <a:t>Sastry</a:t>
            </a:r>
            <a:r>
              <a:rPr lang="it-IT" sz="1400" b="1" dirty="0">
                <a:solidFill>
                  <a:schemeClr val="tx1"/>
                </a:solidFill>
              </a:rPr>
              <a:t>, P. S. (2017).</a:t>
            </a:r>
            <a:r>
              <a:rPr lang="it-IT" sz="1400" dirty="0">
                <a:solidFill>
                  <a:schemeClr val="tx1"/>
                </a:solidFill>
              </a:rPr>
              <a:t> </a:t>
            </a:r>
            <a:r>
              <a:rPr lang="it-IT" sz="1400" dirty="0" err="1">
                <a:solidFill>
                  <a:schemeClr val="tx1"/>
                </a:solidFill>
              </a:rPr>
              <a:t>Robust</a:t>
            </a:r>
            <a:r>
              <a:rPr lang="it-IT" sz="1400" dirty="0">
                <a:solidFill>
                  <a:schemeClr val="tx1"/>
                </a:solidFill>
              </a:rPr>
              <a:t> Loss </a:t>
            </a:r>
            <a:r>
              <a:rPr lang="it-IT" sz="1400" dirty="0" err="1">
                <a:solidFill>
                  <a:schemeClr val="tx1"/>
                </a:solidFill>
              </a:rPr>
              <a:t>Functions</a:t>
            </a:r>
            <a:r>
              <a:rPr lang="it-IT" sz="1400" dirty="0">
                <a:solidFill>
                  <a:schemeClr val="tx1"/>
                </a:solidFill>
              </a:rPr>
              <a:t> under Label </a:t>
            </a:r>
            <a:r>
              <a:rPr lang="it-IT" sz="1400" dirty="0" err="1">
                <a:solidFill>
                  <a:schemeClr val="tx1"/>
                </a:solidFill>
              </a:rPr>
              <a:t>Noise</a:t>
            </a:r>
            <a:r>
              <a:rPr lang="it-IT" sz="1400" dirty="0">
                <a:solidFill>
                  <a:schemeClr val="tx1"/>
                </a:solidFill>
              </a:rPr>
              <a:t> for Deep </a:t>
            </a:r>
            <a:r>
              <a:rPr lang="it-IT" sz="1400" dirty="0" err="1">
                <a:solidFill>
                  <a:schemeClr val="tx1"/>
                </a:solidFill>
              </a:rPr>
              <a:t>Neural</a:t>
            </a:r>
            <a:r>
              <a:rPr lang="it-IT" sz="1400" dirty="0">
                <a:solidFill>
                  <a:schemeClr val="tx1"/>
                </a:solidFill>
              </a:rPr>
              <a:t> Networks. </a:t>
            </a:r>
          </a:p>
          <a:p>
            <a:pPr marL="0" indent="0" algn="just">
              <a:buNone/>
            </a:pPr>
            <a:r>
              <a:rPr lang="en-US" sz="1400" b="1" dirty="0">
                <a:solidFill>
                  <a:schemeClr val="tx1"/>
                </a:solidFill>
              </a:rPr>
              <a:t>Huber, P. J. (1964).</a:t>
            </a:r>
            <a:r>
              <a:rPr lang="en-US" sz="1400" dirty="0">
                <a:solidFill>
                  <a:schemeClr val="tx1"/>
                </a:solidFill>
              </a:rPr>
              <a:t> Robust estimation of a location parameter. </a:t>
            </a:r>
            <a:r>
              <a:rPr lang="en-US" sz="1400" i="1" dirty="0">
                <a:solidFill>
                  <a:schemeClr val="tx1"/>
                </a:solidFill>
              </a:rPr>
              <a:t>The Annals of Mathematical Statistics</a:t>
            </a:r>
            <a:r>
              <a:rPr lang="en-US" sz="1400" dirty="0">
                <a:solidFill>
                  <a:schemeClr val="tx1"/>
                </a:solidFill>
              </a:rPr>
              <a:t>, 35(1), 73-101.</a:t>
            </a:r>
          </a:p>
          <a:p>
            <a:pPr marL="0" indent="0" algn="just">
              <a:buNone/>
            </a:pPr>
            <a:r>
              <a:rPr lang="it-IT" sz="1400" b="1" dirty="0">
                <a:solidFill>
                  <a:schemeClr val="tx1"/>
                </a:solidFill>
              </a:rPr>
              <a:t>Qi, J., </a:t>
            </a:r>
            <a:r>
              <a:rPr lang="it-IT" sz="1400" b="1" dirty="0" err="1">
                <a:solidFill>
                  <a:schemeClr val="tx1"/>
                </a:solidFill>
              </a:rPr>
              <a:t>Du</a:t>
            </a:r>
            <a:r>
              <a:rPr lang="it-IT" sz="1400" b="1" dirty="0">
                <a:solidFill>
                  <a:schemeClr val="tx1"/>
                </a:solidFill>
              </a:rPr>
              <a:t>, J., Siniscalchi, S. M., Ma, X., &amp; Lee, C.-H. (2020).</a:t>
            </a:r>
            <a:r>
              <a:rPr lang="it-IT" sz="1400" dirty="0">
                <a:solidFill>
                  <a:schemeClr val="tx1"/>
                </a:solidFill>
              </a:rPr>
              <a:t> On Mean Absolute Error for Deep </a:t>
            </a:r>
            <a:r>
              <a:rPr lang="it-IT" sz="1400" dirty="0" err="1">
                <a:solidFill>
                  <a:schemeClr val="tx1"/>
                </a:solidFill>
              </a:rPr>
              <a:t>Neural</a:t>
            </a:r>
            <a:r>
              <a:rPr lang="it-IT" sz="1400" dirty="0">
                <a:solidFill>
                  <a:schemeClr val="tx1"/>
                </a:solidFill>
              </a:rPr>
              <a:t> Network </a:t>
            </a:r>
            <a:r>
              <a:rPr lang="it-IT" sz="1400" dirty="0" err="1">
                <a:solidFill>
                  <a:schemeClr val="tx1"/>
                </a:solidFill>
              </a:rPr>
              <a:t>Based</a:t>
            </a:r>
            <a:r>
              <a:rPr lang="it-IT" sz="1400" dirty="0">
                <a:solidFill>
                  <a:schemeClr val="tx1"/>
                </a:solidFill>
              </a:rPr>
              <a:t> </a:t>
            </a:r>
            <a:r>
              <a:rPr lang="it-IT" sz="1400" dirty="0" err="1">
                <a:solidFill>
                  <a:schemeClr val="tx1"/>
                </a:solidFill>
              </a:rPr>
              <a:t>Vector</a:t>
            </a:r>
            <a:r>
              <a:rPr lang="it-IT" sz="1400" dirty="0">
                <a:solidFill>
                  <a:schemeClr val="tx1"/>
                </a:solidFill>
              </a:rPr>
              <a:t>-to-</a:t>
            </a:r>
            <a:r>
              <a:rPr lang="it-IT" sz="1400" dirty="0" err="1">
                <a:solidFill>
                  <a:schemeClr val="tx1"/>
                </a:solidFill>
              </a:rPr>
              <a:t>Vector</a:t>
            </a:r>
            <a:r>
              <a:rPr lang="it-IT" sz="1400" dirty="0">
                <a:solidFill>
                  <a:schemeClr val="tx1"/>
                </a:solidFill>
              </a:rPr>
              <a:t> </a:t>
            </a:r>
            <a:r>
              <a:rPr lang="it-IT" sz="1400" dirty="0" err="1">
                <a:solidFill>
                  <a:schemeClr val="tx1"/>
                </a:solidFill>
              </a:rPr>
              <a:t>Regression</a:t>
            </a:r>
            <a:r>
              <a:rPr lang="it-IT" sz="1400" dirty="0">
                <a:solidFill>
                  <a:schemeClr val="tx1"/>
                </a:solidFill>
              </a:rPr>
              <a:t>. </a:t>
            </a:r>
          </a:p>
          <a:p>
            <a:pPr marL="0" indent="0" algn="just">
              <a:buNone/>
            </a:pPr>
            <a:endParaRPr lang="it-IT" altLang="it-IT" sz="1400" dirty="0">
              <a:solidFill>
                <a:schemeClr val="tx1"/>
              </a:solidFill>
              <a:latin typeface="Arial" panose="020B0604020202020204" pitchFamily="34" charset="0"/>
            </a:endParaRPr>
          </a:p>
          <a:p>
            <a:pPr marL="0" indent="0" algn="just">
              <a:buNone/>
            </a:pPr>
            <a:endParaRPr lang="en-US" sz="1400" dirty="0">
              <a:solidFill>
                <a:schemeClr val="tx1"/>
              </a:solidFill>
            </a:endParaRPr>
          </a:p>
          <a:p>
            <a:pPr marL="0" indent="0" algn="just">
              <a:buNone/>
            </a:pPr>
            <a:endParaRPr lang="it-IT" sz="1400" b="1" dirty="0">
              <a:solidFill>
                <a:schemeClr val="tx1"/>
              </a:solidFill>
            </a:endParaRPr>
          </a:p>
        </p:txBody>
      </p:sp>
      <p:sp>
        <p:nvSpPr>
          <p:cNvPr id="4" name="Segnaposto numero diapositiva 3">
            <a:extLst>
              <a:ext uri="{FF2B5EF4-FFF2-40B4-BE49-F238E27FC236}">
                <a16:creationId xmlns:a16="http://schemas.microsoft.com/office/drawing/2014/main" id="{E7765701-0C77-BE7F-4E4F-421B4434ED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25</a:t>
            </a:fld>
            <a:endParaRPr lang="it-IT"/>
          </a:p>
        </p:txBody>
      </p:sp>
    </p:spTree>
    <p:extLst>
      <p:ext uri="{BB962C8B-B14F-4D97-AF65-F5344CB8AC3E}">
        <p14:creationId xmlns:p14="http://schemas.microsoft.com/office/powerpoint/2010/main" val="2861557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3755FFF-03DD-0F44-D4A0-C1B6B5E92BC5}"/>
              </a:ext>
            </a:extLst>
          </p:cNvPr>
          <p:cNvSpPr>
            <a:spLocks noGrp="1"/>
          </p:cNvSpPr>
          <p:nvPr>
            <p:ph type="title"/>
          </p:nvPr>
        </p:nvSpPr>
        <p:spPr/>
        <p:txBody>
          <a:bodyPr>
            <a:noAutofit/>
          </a:bodyPr>
          <a:lstStyle/>
          <a:p>
            <a:r>
              <a:rPr lang="en-US" sz="3000" b="1" dirty="0"/>
              <a:t>Bibliography</a:t>
            </a:r>
          </a:p>
        </p:txBody>
      </p:sp>
      <p:sp>
        <p:nvSpPr>
          <p:cNvPr id="3" name="Segnaposto testo 2">
            <a:extLst>
              <a:ext uri="{FF2B5EF4-FFF2-40B4-BE49-F238E27FC236}">
                <a16:creationId xmlns:a16="http://schemas.microsoft.com/office/drawing/2014/main" id="{980A906E-1CA3-F93B-7729-9EE032692347}"/>
              </a:ext>
            </a:extLst>
          </p:cNvPr>
          <p:cNvSpPr>
            <a:spLocks noGrp="1"/>
          </p:cNvSpPr>
          <p:nvPr>
            <p:ph type="body" idx="1"/>
          </p:nvPr>
        </p:nvSpPr>
        <p:spPr/>
        <p:txBody>
          <a:bodyPr>
            <a:normAutofit/>
          </a:bodyPr>
          <a:lstStyle/>
          <a:p>
            <a:pPr marL="114300" indent="0" algn="just">
              <a:buNone/>
            </a:pPr>
            <a:r>
              <a:rPr lang="it-IT" sz="1400" b="1" dirty="0" err="1">
                <a:solidFill>
                  <a:schemeClr val="tx1"/>
                </a:solidFill>
              </a:rPr>
              <a:t>Riedmiller</a:t>
            </a:r>
            <a:r>
              <a:rPr lang="it-IT" sz="1400" b="1" dirty="0">
                <a:solidFill>
                  <a:schemeClr val="tx1"/>
                </a:solidFill>
              </a:rPr>
              <a:t>, M., &amp; Braun, H. (1993).</a:t>
            </a:r>
            <a:r>
              <a:rPr lang="it-IT" sz="1400" dirty="0">
                <a:solidFill>
                  <a:schemeClr val="tx1"/>
                </a:solidFill>
              </a:rPr>
              <a:t> A Direct </a:t>
            </a:r>
            <a:r>
              <a:rPr lang="it-IT" sz="1400" dirty="0" err="1">
                <a:solidFill>
                  <a:schemeClr val="tx1"/>
                </a:solidFill>
              </a:rPr>
              <a:t>Adaptive</a:t>
            </a:r>
            <a:r>
              <a:rPr lang="it-IT" sz="1400" dirty="0">
                <a:solidFill>
                  <a:schemeClr val="tx1"/>
                </a:solidFill>
              </a:rPr>
              <a:t> Method for </a:t>
            </a:r>
            <a:r>
              <a:rPr lang="it-IT" sz="1400" dirty="0" err="1">
                <a:solidFill>
                  <a:schemeClr val="tx1"/>
                </a:solidFill>
              </a:rPr>
              <a:t>Faster</a:t>
            </a:r>
            <a:r>
              <a:rPr lang="it-IT" sz="1400" dirty="0">
                <a:solidFill>
                  <a:schemeClr val="tx1"/>
                </a:solidFill>
              </a:rPr>
              <a:t> </a:t>
            </a:r>
            <a:r>
              <a:rPr lang="it-IT" sz="1400" dirty="0" err="1">
                <a:solidFill>
                  <a:schemeClr val="tx1"/>
                </a:solidFill>
              </a:rPr>
              <a:t>Backpropagation</a:t>
            </a:r>
            <a:r>
              <a:rPr lang="it-IT" sz="1400" dirty="0">
                <a:solidFill>
                  <a:schemeClr val="tx1"/>
                </a:solidFill>
              </a:rPr>
              <a:t> Learning: The RPROP </a:t>
            </a:r>
            <a:r>
              <a:rPr lang="it-IT" sz="1400" dirty="0" err="1">
                <a:solidFill>
                  <a:schemeClr val="tx1"/>
                </a:solidFill>
              </a:rPr>
              <a:t>Algorithm</a:t>
            </a:r>
            <a:r>
              <a:rPr lang="it-IT" sz="1400" dirty="0">
                <a:solidFill>
                  <a:schemeClr val="tx1"/>
                </a:solidFill>
              </a:rPr>
              <a:t>. </a:t>
            </a:r>
            <a:r>
              <a:rPr lang="it-IT" sz="1400" i="1" dirty="0">
                <a:solidFill>
                  <a:schemeClr val="tx1"/>
                </a:solidFill>
              </a:rPr>
              <a:t>IEEE International Conference on </a:t>
            </a:r>
            <a:r>
              <a:rPr lang="it-IT" sz="1400" i="1" dirty="0" err="1">
                <a:solidFill>
                  <a:schemeClr val="tx1"/>
                </a:solidFill>
              </a:rPr>
              <a:t>Neural</a:t>
            </a:r>
            <a:r>
              <a:rPr lang="it-IT" sz="1400" i="1" dirty="0">
                <a:solidFill>
                  <a:schemeClr val="tx1"/>
                </a:solidFill>
              </a:rPr>
              <a:t> Networks (ICNN)</a:t>
            </a:r>
            <a:r>
              <a:rPr lang="it-IT" sz="1400" dirty="0">
                <a:solidFill>
                  <a:schemeClr val="tx1"/>
                </a:solidFill>
              </a:rPr>
              <a:t>, pp. 586-591.</a:t>
            </a:r>
          </a:p>
          <a:p>
            <a:pPr marL="114300" indent="0" algn="just">
              <a:buNone/>
            </a:pPr>
            <a:r>
              <a:rPr lang="en-US" sz="1400" b="1" dirty="0">
                <a:solidFill>
                  <a:schemeClr val="tx1"/>
                </a:solidFill>
              </a:rPr>
              <a:t>Sun, Q., Zhou, W.-X., &amp; Fan, J. (2020).</a:t>
            </a:r>
            <a:r>
              <a:rPr lang="en-US" sz="1400" dirty="0">
                <a:solidFill>
                  <a:schemeClr val="tx1"/>
                </a:solidFill>
              </a:rPr>
              <a:t> Adaptive Huber Regression. </a:t>
            </a:r>
            <a:r>
              <a:rPr lang="en-US" sz="1400" i="1" dirty="0">
                <a:solidFill>
                  <a:schemeClr val="tx1"/>
                </a:solidFill>
              </a:rPr>
              <a:t>Journal of the American Statistical Association</a:t>
            </a:r>
            <a:r>
              <a:rPr lang="en-US" sz="1400" dirty="0">
                <a:solidFill>
                  <a:schemeClr val="tx1"/>
                </a:solidFill>
              </a:rPr>
              <a:t>, 115(529), 254-265. </a:t>
            </a:r>
          </a:p>
          <a:p>
            <a:pPr marL="114300" indent="0" algn="just">
              <a:buNone/>
            </a:pPr>
            <a:r>
              <a:rPr lang="it-IT" sz="1400" b="1" dirty="0" err="1">
                <a:solidFill>
                  <a:schemeClr val="tx1"/>
                </a:solidFill>
              </a:rPr>
              <a:t>Volarić</a:t>
            </a:r>
            <a:r>
              <a:rPr lang="it-IT" sz="1400" b="1" dirty="0">
                <a:solidFill>
                  <a:schemeClr val="tx1"/>
                </a:solidFill>
              </a:rPr>
              <a:t>, T., </a:t>
            </a:r>
            <a:r>
              <a:rPr lang="it-IT" sz="1400" b="1" dirty="0" err="1">
                <a:solidFill>
                  <a:schemeClr val="tx1"/>
                </a:solidFill>
              </a:rPr>
              <a:t>Ljubić</a:t>
            </a:r>
            <a:r>
              <a:rPr lang="it-IT" sz="1400" b="1" dirty="0">
                <a:solidFill>
                  <a:schemeClr val="tx1"/>
                </a:solidFill>
              </a:rPr>
              <a:t>, H., </a:t>
            </a:r>
            <a:r>
              <a:rPr lang="it-IT" sz="1400" b="1" dirty="0" err="1">
                <a:solidFill>
                  <a:schemeClr val="tx1"/>
                </a:solidFill>
              </a:rPr>
              <a:t>Vasić</a:t>
            </a:r>
            <a:r>
              <a:rPr lang="it-IT" sz="1400" b="1" dirty="0">
                <a:solidFill>
                  <a:schemeClr val="tx1"/>
                </a:solidFill>
              </a:rPr>
              <a:t>, D., &amp; </a:t>
            </a:r>
            <a:r>
              <a:rPr lang="it-IT" sz="1400" b="1" dirty="0" err="1">
                <a:solidFill>
                  <a:schemeClr val="tx1"/>
                </a:solidFill>
              </a:rPr>
              <a:t>Rozić</a:t>
            </a:r>
            <a:r>
              <a:rPr lang="it-IT" sz="1400" b="1" dirty="0">
                <a:solidFill>
                  <a:schemeClr val="tx1"/>
                </a:solidFill>
              </a:rPr>
              <a:t>, R. (2025).</a:t>
            </a:r>
            <a:r>
              <a:rPr lang="it-IT" sz="1400" dirty="0">
                <a:solidFill>
                  <a:schemeClr val="tx1"/>
                </a:solidFill>
              </a:rPr>
              <a:t> </a:t>
            </a:r>
            <a:r>
              <a:rPr lang="it-IT" sz="1400" dirty="0" err="1">
                <a:solidFill>
                  <a:schemeClr val="tx1"/>
                </a:solidFill>
              </a:rPr>
              <a:t>Should</a:t>
            </a:r>
            <a:r>
              <a:rPr lang="it-IT" sz="1400" dirty="0">
                <a:solidFill>
                  <a:schemeClr val="tx1"/>
                </a:solidFill>
              </a:rPr>
              <a:t> MSE Remain the Default Benchmarking Loss </a:t>
            </a:r>
            <a:r>
              <a:rPr lang="it-IT" sz="1400" dirty="0" err="1">
                <a:solidFill>
                  <a:schemeClr val="tx1"/>
                </a:solidFill>
              </a:rPr>
              <a:t>Function</a:t>
            </a:r>
            <a:r>
              <a:rPr lang="it-IT" sz="1400" dirty="0">
                <a:solidFill>
                  <a:schemeClr val="tx1"/>
                </a:solidFill>
              </a:rPr>
              <a:t> for Long-</a:t>
            </a:r>
            <a:r>
              <a:rPr lang="it-IT" sz="1400" dirty="0" err="1">
                <a:solidFill>
                  <a:schemeClr val="tx1"/>
                </a:solidFill>
              </a:rPr>
              <a:t>Term</a:t>
            </a:r>
            <a:r>
              <a:rPr lang="it-IT" sz="1400" dirty="0">
                <a:solidFill>
                  <a:schemeClr val="tx1"/>
                </a:solidFill>
              </a:rPr>
              <a:t> Time Series Forecasting? </a:t>
            </a:r>
            <a:r>
              <a:rPr lang="it-IT" sz="1400" i="1" dirty="0">
                <a:solidFill>
                  <a:schemeClr val="tx1"/>
                </a:solidFill>
              </a:rPr>
              <a:t>SN Computer Science</a:t>
            </a:r>
            <a:r>
              <a:rPr lang="it-IT" sz="1400" dirty="0">
                <a:solidFill>
                  <a:schemeClr val="tx1"/>
                </a:solidFill>
              </a:rPr>
              <a:t>, 6:804. </a:t>
            </a:r>
          </a:p>
          <a:p>
            <a:pPr marL="114300" indent="0" algn="just">
              <a:buNone/>
            </a:pPr>
            <a:r>
              <a:rPr lang="en-US" sz="1400" b="1" dirty="0">
                <a:solidFill>
                  <a:schemeClr val="tx1"/>
                </a:solidFill>
              </a:rPr>
              <a:t>Chen, T., &amp; </a:t>
            </a:r>
            <a:r>
              <a:rPr lang="en-US" sz="1400" b="1" dirty="0" err="1">
                <a:solidFill>
                  <a:schemeClr val="tx1"/>
                </a:solidFill>
              </a:rPr>
              <a:t>Guestrin</a:t>
            </a:r>
            <a:r>
              <a:rPr lang="en-US" sz="1400" b="1" dirty="0">
                <a:solidFill>
                  <a:schemeClr val="tx1"/>
                </a:solidFill>
              </a:rPr>
              <a:t>, C. (2016).</a:t>
            </a:r>
            <a:r>
              <a:rPr lang="en-US" sz="1400" dirty="0">
                <a:solidFill>
                  <a:schemeClr val="tx1"/>
                </a:solidFill>
              </a:rPr>
              <a:t> </a:t>
            </a:r>
            <a:r>
              <a:rPr lang="en-US" sz="1400" dirty="0" err="1">
                <a:solidFill>
                  <a:schemeClr val="tx1"/>
                </a:solidFill>
              </a:rPr>
              <a:t>XGBoost</a:t>
            </a:r>
            <a:r>
              <a:rPr lang="en-US" sz="1400" dirty="0">
                <a:solidFill>
                  <a:schemeClr val="tx1"/>
                </a:solidFill>
              </a:rPr>
              <a:t>: A Scalable Tree Boosting System. </a:t>
            </a:r>
            <a:r>
              <a:rPr lang="en-US" sz="1400" i="1" dirty="0">
                <a:solidFill>
                  <a:schemeClr val="tx1"/>
                </a:solidFill>
              </a:rPr>
              <a:t>Proceedings of the 22nd ACM SIGKDD International Conference on Knowledge Discovery and Data Mining (KDD)</a:t>
            </a:r>
            <a:r>
              <a:rPr lang="en-US" sz="1400" dirty="0">
                <a:solidFill>
                  <a:schemeClr val="tx1"/>
                </a:solidFill>
              </a:rPr>
              <a:t>, pp. 785–794. </a:t>
            </a:r>
          </a:p>
          <a:p>
            <a:pPr marL="114300" indent="0" algn="just">
              <a:buNone/>
            </a:pPr>
            <a:r>
              <a:rPr lang="it-IT" sz="1400" b="1" dirty="0">
                <a:solidFill>
                  <a:schemeClr val="tx1"/>
                </a:solidFill>
              </a:rPr>
              <a:t>Grover, A., &amp; </a:t>
            </a:r>
            <a:r>
              <a:rPr lang="it-IT" sz="1400" b="1" dirty="0" err="1">
                <a:solidFill>
                  <a:schemeClr val="tx1"/>
                </a:solidFill>
              </a:rPr>
              <a:t>Ermon</a:t>
            </a:r>
            <a:r>
              <a:rPr lang="it-IT" sz="1400" b="1" dirty="0">
                <a:solidFill>
                  <a:schemeClr val="tx1"/>
                </a:solidFill>
              </a:rPr>
              <a:t>, S. (2019).</a:t>
            </a:r>
            <a:r>
              <a:rPr lang="it-IT" sz="1400" dirty="0">
                <a:solidFill>
                  <a:schemeClr val="tx1"/>
                </a:solidFill>
              </a:rPr>
              <a:t> </a:t>
            </a:r>
            <a:r>
              <a:rPr lang="it-IT" sz="1400" dirty="0" err="1">
                <a:solidFill>
                  <a:schemeClr val="tx1"/>
                </a:solidFill>
              </a:rPr>
              <a:t>Uncertainty</a:t>
            </a:r>
            <a:r>
              <a:rPr lang="it-IT" sz="1400" dirty="0">
                <a:solidFill>
                  <a:schemeClr val="tx1"/>
                </a:solidFill>
              </a:rPr>
              <a:t> </a:t>
            </a:r>
            <a:r>
              <a:rPr lang="it-IT" sz="1400" dirty="0" err="1">
                <a:solidFill>
                  <a:schemeClr val="tx1"/>
                </a:solidFill>
              </a:rPr>
              <a:t>Autoencoders</a:t>
            </a:r>
            <a:r>
              <a:rPr lang="it-IT" sz="1400" dirty="0">
                <a:solidFill>
                  <a:schemeClr val="tx1"/>
                </a:solidFill>
              </a:rPr>
              <a:t>: Learning </a:t>
            </a:r>
            <a:r>
              <a:rPr lang="it-IT" sz="1400" dirty="0" err="1">
                <a:solidFill>
                  <a:schemeClr val="tx1"/>
                </a:solidFill>
              </a:rPr>
              <a:t>Compressed</a:t>
            </a:r>
            <a:r>
              <a:rPr lang="it-IT" sz="1400" dirty="0">
                <a:solidFill>
                  <a:schemeClr val="tx1"/>
                </a:solidFill>
              </a:rPr>
              <a:t> </a:t>
            </a:r>
            <a:r>
              <a:rPr lang="it-IT" sz="1400" dirty="0" err="1">
                <a:solidFill>
                  <a:schemeClr val="tx1"/>
                </a:solidFill>
              </a:rPr>
              <a:t>Representations</a:t>
            </a:r>
            <a:r>
              <a:rPr lang="it-IT" sz="1400" dirty="0">
                <a:solidFill>
                  <a:schemeClr val="tx1"/>
                </a:solidFill>
              </a:rPr>
              <a:t> via </a:t>
            </a:r>
            <a:r>
              <a:rPr lang="it-IT" sz="1400" dirty="0" err="1">
                <a:solidFill>
                  <a:schemeClr val="tx1"/>
                </a:solidFill>
              </a:rPr>
              <a:t>Variational</a:t>
            </a:r>
            <a:r>
              <a:rPr lang="it-IT" sz="1400" dirty="0">
                <a:solidFill>
                  <a:schemeClr val="tx1"/>
                </a:solidFill>
              </a:rPr>
              <a:t> Information </a:t>
            </a:r>
            <a:r>
              <a:rPr lang="it-IT" sz="1400" dirty="0" err="1">
                <a:solidFill>
                  <a:schemeClr val="tx1"/>
                </a:solidFill>
              </a:rPr>
              <a:t>Maximization</a:t>
            </a:r>
            <a:r>
              <a:rPr lang="it-IT" sz="1400" dirty="0">
                <a:solidFill>
                  <a:schemeClr val="tx1"/>
                </a:solidFill>
              </a:rPr>
              <a:t>. </a:t>
            </a:r>
            <a:r>
              <a:rPr lang="it-IT" sz="1400" i="1" dirty="0" err="1">
                <a:solidFill>
                  <a:schemeClr val="tx1"/>
                </a:solidFill>
              </a:rPr>
              <a:t>Proceedings</a:t>
            </a:r>
            <a:r>
              <a:rPr lang="it-IT" sz="1400" i="1" dirty="0">
                <a:solidFill>
                  <a:schemeClr val="tx1"/>
                </a:solidFill>
              </a:rPr>
              <a:t> of the 22nd International Conference on </a:t>
            </a:r>
            <a:r>
              <a:rPr lang="it-IT" sz="1400" i="1" dirty="0" err="1">
                <a:solidFill>
                  <a:schemeClr val="tx1"/>
                </a:solidFill>
              </a:rPr>
              <a:t>Artificial</a:t>
            </a:r>
            <a:r>
              <a:rPr lang="it-IT" sz="1400" i="1" dirty="0">
                <a:solidFill>
                  <a:schemeClr val="tx1"/>
                </a:solidFill>
              </a:rPr>
              <a:t> Intelligence and </a:t>
            </a:r>
            <a:r>
              <a:rPr lang="it-IT" sz="1400" i="1" dirty="0" err="1">
                <a:solidFill>
                  <a:schemeClr val="tx1"/>
                </a:solidFill>
              </a:rPr>
              <a:t>Statistics</a:t>
            </a:r>
            <a:r>
              <a:rPr lang="it-IT" sz="1400" i="1" dirty="0">
                <a:solidFill>
                  <a:schemeClr val="tx1"/>
                </a:solidFill>
              </a:rPr>
              <a:t>.</a:t>
            </a:r>
            <a:endParaRPr lang="it-IT" sz="1400" dirty="0">
              <a:solidFill>
                <a:schemeClr val="tx1"/>
              </a:solidFill>
            </a:endParaRPr>
          </a:p>
          <a:p>
            <a:pPr marL="114300" indent="0" algn="just">
              <a:buNone/>
            </a:pPr>
            <a:endParaRPr lang="en-US" sz="1400" dirty="0">
              <a:solidFill>
                <a:schemeClr val="tx1"/>
              </a:solidFill>
            </a:endParaRPr>
          </a:p>
        </p:txBody>
      </p:sp>
      <p:sp>
        <p:nvSpPr>
          <p:cNvPr id="4" name="Segnaposto numero diapositiva 3">
            <a:extLst>
              <a:ext uri="{FF2B5EF4-FFF2-40B4-BE49-F238E27FC236}">
                <a16:creationId xmlns:a16="http://schemas.microsoft.com/office/drawing/2014/main" id="{ED2F16F1-0AE5-89B1-5D8C-CCCF02B6E28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it-IT" smtClean="0"/>
              <a:t>26</a:t>
            </a:fld>
            <a:endParaRPr lang="it-IT"/>
          </a:p>
        </p:txBody>
      </p:sp>
    </p:spTree>
    <p:extLst>
      <p:ext uri="{BB962C8B-B14F-4D97-AF65-F5344CB8AC3E}">
        <p14:creationId xmlns:p14="http://schemas.microsoft.com/office/powerpoint/2010/main" val="352572670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1073</TotalTime>
  <Words>2079</Words>
  <Application>Microsoft Office PowerPoint</Application>
  <PresentationFormat>Presentazione su schermo (16:9)</PresentationFormat>
  <Paragraphs>308</Paragraphs>
  <Slides>26</Slides>
  <Notes>4</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26</vt:i4>
      </vt:variant>
    </vt:vector>
  </HeadingPairs>
  <TitlesOfParts>
    <vt:vector size="29" baseType="lpstr">
      <vt:lpstr>Arial</vt:lpstr>
      <vt:lpstr>Consolas</vt:lpstr>
      <vt:lpstr>Simple Light</vt:lpstr>
      <vt:lpstr>ANN implementation &amp; Cascade Correlation analysis</vt:lpstr>
      <vt:lpstr>Introduction and objectives </vt:lpstr>
      <vt:lpstr>Software design &amp; libraries </vt:lpstr>
      <vt:lpstr>Architecture &amp; implementation specifics</vt:lpstr>
      <vt:lpstr>Implementation specifics for CC</vt:lpstr>
      <vt:lpstr>Preprocessing &amp; validation schema</vt:lpstr>
      <vt:lpstr>Validation schema &amp; Screening phase for CC</vt:lpstr>
      <vt:lpstr>Hyperparameter space of CC</vt:lpstr>
      <vt:lpstr>Presentazione standard di PowerPoint</vt:lpstr>
      <vt:lpstr>Final model selection</vt:lpstr>
      <vt:lpstr>ANN grid search on Monk problems</vt:lpstr>
      <vt:lpstr>ANN grid search on CUP problem</vt:lpstr>
      <vt:lpstr>Final model assessment for CC </vt:lpstr>
      <vt:lpstr>ANN – Monk results </vt:lpstr>
      <vt:lpstr>ANN – Monk learning curves</vt:lpstr>
      <vt:lpstr>ANN – Monk confusion matrices</vt:lpstr>
      <vt:lpstr>CC – Monk results</vt:lpstr>
      <vt:lpstr>CC - Monk-1 learning curves  </vt:lpstr>
      <vt:lpstr>CC - Monk-2 learning curves </vt:lpstr>
      <vt:lpstr>CC - Monk-3 learning curves</vt:lpstr>
      <vt:lpstr>ANN – CUP results</vt:lpstr>
      <vt:lpstr>CC - Final model learning curve</vt:lpstr>
      <vt:lpstr>Comparison of training approaches</vt:lpstr>
      <vt:lpstr>Discussion and conclusions </vt:lpstr>
      <vt:lpstr>Bibliography</vt:lpstr>
      <vt:lpstr>Bibliography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Alessia Stocco</cp:lastModifiedBy>
  <cp:revision>14</cp:revision>
  <dcterms:modified xsi:type="dcterms:W3CDTF">2026-01-22T16:47:25Z</dcterms:modified>
</cp:coreProperties>
</file>